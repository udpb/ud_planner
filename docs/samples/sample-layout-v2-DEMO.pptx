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62000" y="2095500"/>
            <a:ext cx="952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충청남도창조경제혁신센터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762000" y="2571750"/>
            <a:ext cx="10477500" cy="1524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373938"/>
                </a:solidFill>
                <a:latin typeface="NanumHuman"/>
                <a:ea typeface="NanumHuman"/>
              </a:rPr>
              <a:t>2026 충남 청년 예비창업가 발굴·육성 프로그램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762000" y="4286250"/>
            <a:ext cx="8572500" cy="1143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600" b="0" dirty="0">
                <a:solidFill>
                  <a:srgbClr val="4B4D4C"/>
                </a:solidFill>
                <a:latin typeface="NanumHuman"/>
                <a:ea typeface="NanumHuman"/>
              </a:rPr>
              <a:t>만 39세 이하 청년 예비·초기창업가 30명의 아이디어를 투자 유치 가능한 BM으로 고도화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762000" y="6096000"/>
            <a:ext cx="5715000" cy="476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400" b="1" dirty="0">
                <a:solidFill>
                  <a:srgbClr val="F05519"/>
                </a:solidFill>
                <a:latin typeface="Poppins"/>
                <a:ea typeface="NanumHuman"/>
              </a:rPr>
              <a:t>underdogs.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762000" y="47625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INDEX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762000" y="857250"/>
            <a:ext cx="5715000" cy="6667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3200" b="1" dirty="0">
                <a:solidFill>
                  <a:srgbClr val="373938"/>
                </a:solidFill>
                <a:latin typeface="NanumHuman"/>
                <a:ea typeface="NanumHuman"/>
              </a:rPr>
              <a:t>목차</a:t>
            </a:r>
          </a:p>
        </p:txBody>
      </p:sp>
      <p:sp>
        <p:nvSpPr>
          <p:cNvPr id="22" name="rect22"/>
          <p:cNvSpPr/>
          <p:nvPr/>
        </p:nvSpPr>
        <p:spPr>
          <a:xfrm>
            <a:off x="762000" y="1619250"/>
            <a:ext cx="10668000" cy="3810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b23"/>
          <p:cNvSpPr txBox="1"/>
          <p:nvPr/>
        </p:nvSpPr>
        <p:spPr>
          <a:xfrm>
            <a:off x="762000" y="20002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01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제안 배경 및 목적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BACKGROUND &amp; PURPOSE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762000" y="25717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02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추진 전략 및 방법론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STRATEGY &amp; METHOD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762000" y="31432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03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교육 커리큘럼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CURRICULUM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762000" y="37147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04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운영 체계 및 코치진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OPERATION &amp; COACHES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762000" y="42862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05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예산 및 경제성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BUDGET &amp; FEASIBILITY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762000" y="48577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06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기대 성과 및 임팩트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IMPACT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762000" y="5429250"/>
            <a:ext cx="10668000" cy="533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07   </a:t>
            </a:r>
            <a:r>
              <a:rPr lang="ko-KR" altLang="en-US" sz="1600" b="1" dirty="0">
                <a:solidFill>
                  <a:srgbClr val="373938"/>
                </a:solidFill>
                <a:latin typeface="NanumHuman"/>
                <a:ea typeface="NanumHuman"/>
              </a:rPr>
              <a:t>수행 역량 및 실적</a:t>
            </a:r>
            <a:r>
              <a:rPr lang="ko-KR" altLang="en-US" sz="1100" b="0" dirty="0">
                <a:solidFill>
                  <a:srgbClr val="878888"/>
                </a:solidFill>
                <a:latin typeface="Poppins"/>
                <a:ea typeface="NanumHuman"/>
              </a:rPr>
              <a:t>    TRACK RECORD</a:t>
            </a:r>
          </a:p>
        </p:txBody>
      </p:sp>
      <p:sp>
        <p:nvSpPr>
          <p:cNvPr id="30" name="rect30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b31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01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BACKGROUND &amp; PURPOSE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제안 배경 및 목적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01 제안 배경 및 목적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914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충남 청년 30명의 아이디어를 투자 유치와 지역 정착이 가능한 BM으로 고도화합니다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0975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단순 창업 교육을 넘어 시장 검증된 사업계획서·IR Deck 도출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479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762000" y="2400300"/>
            <a:ext cx="38100" cy="1362075"/>
          </a:xfrm>
          <a:prstGeom prst="rect">
            <a:avLst/>
          </a:prstGeom>
          <a:solidFill>
            <a:srgbClr val="F055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914400" y="2381250"/>
            <a:ext cx="5943600" cy="1400175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지역 청년 인구 유출이라는 구조적 과제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충청남도는 청년 인구의 수도권 유출이 지속되며 지역 경제 활력 저하에 직면해 있습니다. 청년의 창의적 아이디어가 구상에 머물지 않고 실제 매출·고용으로 이어지려면 진단부터 사업화까지 체계적으로 받치는 보육 시스템이 필요합니다. 본 사업은 만 39세 이하 예비·초기창업가를 발굴해 지역 내 지속 가능한 비즈니스로 정착시키는 생태계 조성에 배경을 둡니다.</a:t>
            </a:r>
          </a:p>
        </p:txBody>
      </p:sp>
      <p:sp>
        <p:nvSpPr>
          <p:cNvPr id="46" name="rect46"/>
          <p:cNvSpPr/>
          <p:nvPr/>
        </p:nvSpPr>
        <p:spPr>
          <a:xfrm>
            <a:off x="762000" y="3933825"/>
            <a:ext cx="38100" cy="1362075"/>
          </a:xfrm>
          <a:prstGeom prst="rect">
            <a:avLst/>
          </a:prstGeom>
          <a:solidFill>
            <a:srgbClr val="F055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914400" y="3914775"/>
            <a:ext cx="5943600" cy="1400175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시장성 검증부터 투자 연계까지 전주기 액셀러레이팅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8개월 밀착 보육으로 BM을 고도화하고, 시장에서 통하는 사업계획서와 IR Deck을 도출합니다. 최종 데모데이에서 실제 투자 유치 및 후속 지원으로 연결해, 충남 창조경제혁신센터 인프라와의 협력 속에서 지역 핵심 기업으로 성장하는 발판을 마련합니다.</a:t>
            </a:r>
          </a:p>
        </p:txBody>
      </p:sp>
      <p:sp>
        <p:nvSpPr>
          <p:cNvPr id="48" name="tb48"/>
          <p:cNvSpPr txBox="1"/>
          <p:nvPr/>
        </p:nvSpPr>
        <p:spPr>
          <a:xfrm>
            <a:off x="7143750" y="2381250"/>
            <a:ext cx="4286250" cy="2933700"/>
          </a:xfrm>
          <a:prstGeom prst="rect">
            <a:avLst/>
          </a:prstGeom>
          <a:noFill/>
          <a:ln w="12700">
            <a:solidFill>
              <a:srgbClr val="F05519"/>
            </a:solidFill>
          </a:ln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" b="0" dirty="0">
                <a:solidFill>
                  <a:srgbClr val="373938"/>
                </a:solidFill>
                <a:latin typeface="NanumHuman"/>
                <a:ea typeface="NanumHuman"/>
              </a:rPr>
              <a:t/>
            </a:r>
          </a:p>
        </p:txBody>
      </p:sp>
      <p:sp>
        <p:nvSpPr>
          <p:cNvPr id="49" name="rect49"/>
          <p:cNvSpPr/>
          <p:nvPr/>
        </p:nvSpPr>
        <p:spPr>
          <a:xfrm>
            <a:off x="7277100" y="2514600"/>
            <a:ext cx="1628775" cy="2667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b50"/>
          <p:cNvSpPr txBox="1"/>
          <p:nvPr/>
        </p:nvSpPr>
        <p:spPr>
          <a:xfrm>
            <a:off x="7429500" y="2647950"/>
            <a:ext cx="1323975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878888"/>
                </a:solidFill>
                <a:latin typeface="Poppins"/>
                <a:ea typeface="NanumHuman"/>
              </a:rPr>
              <a:t>BEFORE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429500" y="2952750"/>
            <a:ext cx="1323975" cy="2095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500" b="1" dirty="0">
                <a:solidFill>
                  <a:srgbClr val="373938"/>
                </a:solidFill>
                <a:latin typeface="NanumHuman"/>
                <a:ea typeface="NanumHuman"/>
              </a:rPr>
              <a:t>아이디어 단계 — 시장 검증 부재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구상은 있으나 BM·재무·고객 검증 미비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• 사업계획서 미완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• 투자 연계 0건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• 지역 이탈 우려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8905875" y="3562350"/>
            <a:ext cx="762000" cy="5715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4000" b="1" dirty="0">
                <a:solidFill>
                  <a:srgbClr val="F05519"/>
                </a:solidFill>
                <a:latin typeface="Poppins"/>
                <a:ea typeface="NanumHuman"/>
              </a:rPr>
              <a:t>→</a:t>
            </a:r>
          </a:p>
        </p:txBody>
      </p:sp>
      <p:sp>
        <p:nvSpPr>
          <p:cNvPr id="53" name="rect53"/>
          <p:cNvSpPr/>
          <p:nvPr/>
        </p:nvSpPr>
        <p:spPr>
          <a:xfrm>
            <a:off x="9667875" y="2514600"/>
            <a:ext cx="1628775" cy="26670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tb54"/>
          <p:cNvSpPr txBox="1"/>
          <p:nvPr/>
        </p:nvSpPr>
        <p:spPr>
          <a:xfrm>
            <a:off x="9820275" y="2647950"/>
            <a:ext cx="1323975" cy="266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AFTER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9820275" y="2952750"/>
            <a:ext cx="1323975" cy="2095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500" b="1" dirty="0">
                <a:solidFill>
                  <a:srgbClr val="373938"/>
                </a:solidFill>
                <a:latin typeface="NanumHuman"/>
                <a:ea typeface="NanumHuman"/>
              </a:rPr>
              <a:t>투자 유치 가능한 BM 확보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시장 검증 기반 사업계획서·IR Deck 완성</a:t>
            </a:r>
          </a:p>
          <a:p>
            <a:pPr algn="l"/>
            <a:r>
              <a:rPr lang="ko-KR" altLang="en-US" sz="1100" b="0" dirty="0">
                <a:solidFill>
                  <a:srgbClr val="F05519"/>
                </a:solidFill>
                <a:latin typeface="NanumHuman"/>
                <a:ea typeface="NanumHuman"/>
              </a:rPr>
              <a:t>• 사업계획서 100%</a:t>
            </a:r>
          </a:p>
          <a:p>
            <a:pPr algn="l"/>
            <a:r>
              <a:rPr lang="ko-KR" altLang="en-US" sz="1100" b="0" dirty="0">
                <a:solidFill>
                  <a:srgbClr val="F05519"/>
                </a:solidFill>
                <a:latin typeface="NanumHuman"/>
                <a:ea typeface="NanumHuman"/>
              </a:rPr>
              <a:t>• 데모데이 IR</a:t>
            </a:r>
          </a:p>
          <a:p>
            <a:pPr algn="l"/>
            <a:r>
              <a:rPr lang="ko-KR" altLang="en-US" sz="1100" b="0" dirty="0">
                <a:solidFill>
                  <a:srgbClr val="F05519"/>
                </a:solidFill>
                <a:latin typeface="NanumHuman"/>
                <a:ea typeface="NanumHuman"/>
              </a:rPr>
              <a:t>• 지역 정착 기반</a:t>
            </a:r>
          </a:p>
        </p:txBody>
      </p:sp>
      <p:sp>
        <p:nvSpPr>
          <p:cNvPr id="56" name="rect56"/>
          <p:cNvSpPr/>
          <p:nvPr/>
        </p:nvSpPr>
        <p:spPr>
          <a:xfrm>
            <a:off x="762000" y="5467350"/>
            <a:ext cx="10668000" cy="5905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b57"/>
          <p:cNvSpPr txBox="1"/>
          <p:nvPr/>
        </p:nvSpPr>
        <p:spPr>
          <a:xfrm>
            <a:off x="904875" y="5524500"/>
            <a:ext cx="1905000" cy="190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904875" y="5715000"/>
            <a:ext cx="10382250" cy="3048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충남 청년(15~39세) 순유출이 지속되어 지역 정착형 창업 보육 수요가 명확함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(통계청 국내인구이동통계 2023)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예비창업 단계 기업의 사업화 성공률은 체계적 보육 시 유의미하게 상승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(중기부 창업기업 실태조사)</a:t>
            </a:r>
          </a:p>
        </p:txBody>
      </p:sp>
      <p:sp>
        <p:nvSpPr>
          <p:cNvPr id="59" name="rect59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b60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02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STRATEGY &amp; METHOD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추진 전략 및 방법론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02 추진 전략 및 방법론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914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일반 창업 교육 대비 실행·산출물 중심 보육으로 차별화된 성과를 만듭니다</a:t>
            </a:r>
          </a:p>
        </p:txBody>
      </p:sp>
      <p:sp>
        <p:nvSpPr>
          <p:cNvPr id="42" name="rect42"/>
          <p:cNvSpPr/>
          <p:nvPr/>
        </p:nvSpPr>
        <p:spPr>
          <a:xfrm>
            <a:off x="762000" y="22479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43"/>
          <p:cNvSpPr/>
          <p:nvPr/>
        </p:nvSpPr>
        <p:spPr>
          <a:xfrm>
            <a:off x="762000" y="2381250"/>
            <a:ext cx="2667000" cy="48895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3429000" y="2381250"/>
            <a:ext cx="4000500" cy="48895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45"/>
          <p:cNvSpPr/>
          <p:nvPr/>
        </p:nvSpPr>
        <p:spPr>
          <a:xfrm>
            <a:off x="7429500" y="2381250"/>
            <a:ext cx="4000500" cy="488950"/>
          </a:xfrm>
          <a:prstGeom prst="rect">
            <a:avLst/>
          </a:prstGeom>
          <a:solidFill>
            <a:srgbClr val="F055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b46"/>
          <p:cNvSpPr txBox="1"/>
          <p:nvPr/>
        </p:nvSpPr>
        <p:spPr>
          <a:xfrm>
            <a:off x="857250" y="2457450"/>
            <a:ext cx="24765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구분</a:t>
            </a:r>
          </a:p>
        </p:txBody>
      </p:sp>
      <p:sp>
        <p:nvSpPr>
          <p:cNvPr id="47" name="tb47"/>
          <p:cNvSpPr txBox="1"/>
          <p:nvPr/>
        </p:nvSpPr>
        <p:spPr>
          <a:xfrm>
            <a:off x="3524250" y="245745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일반 창업 교육</a:t>
            </a:r>
          </a:p>
        </p:txBody>
      </p:sp>
      <p:sp>
        <p:nvSpPr>
          <p:cNvPr id="48" name="tb48"/>
          <p:cNvSpPr txBox="1"/>
          <p:nvPr/>
        </p:nvSpPr>
        <p:spPr>
          <a:xfrm>
            <a:off x="7524750" y="245745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언더독스 액셀러레이팅</a:t>
            </a:r>
          </a:p>
        </p:txBody>
      </p:sp>
      <p:sp>
        <p:nvSpPr>
          <p:cNvPr id="49" name="rect49"/>
          <p:cNvSpPr/>
          <p:nvPr/>
        </p:nvSpPr>
        <p:spPr>
          <a:xfrm>
            <a:off x="762000" y="2870200"/>
            <a:ext cx="2667000" cy="4889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50"/>
          <p:cNvSpPr/>
          <p:nvPr/>
        </p:nvSpPr>
        <p:spPr>
          <a:xfrm>
            <a:off x="3429000" y="2870200"/>
            <a:ext cx="4000500" cy="488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51"/>
          <p:cNvSpPr/>
          <p:nvPr/>
        </p:nvSpPr>
        <p:spPr>
          <a:xfrm>
            <a:off x="7429500" y="2870200"/>
            <a:ext cx="4000500" cy="48895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b52"/>
          <p:cNvSpPr txBox="1"/>
          <p:nvPr/>
        </p:nvSpPr>
        <p:spPr>
          <a:xfrm>
            <a:off x="857250" y="2946400"/>
            <a:ext cx="24765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실습 비중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3524250" y="294640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이론 70%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24750" y="294640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실행·실습 80%</a:t>
            </a:r>
          </a:p>
        </p:txBody>
      </p:sp>
      <p:sp>
        <p:nvSpPr>
          <p:cNvPr id="55" name="rect55"/>
          <p:cNvSpPr/>
          <p:nvPr/>
        </p:nvSpPr>
        <p:spPr>
          <a:xfrm>
            <a:off x="762000" y="3359150"/>
            <a:ext cx="2667000" cy="4889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56"/>
          <p:cNvSpPr/>
          <p:nvPr/>
        </p:nvSpPr>
        <p:spPr>
          <a:xfrm>
            <a:off x="3429000" y="3359150"/>
            <a:ext cx="4000500" cy="488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57"/>
          <p:cNvSpPr/>
          <p:nvPr/>
        </p:nvSpPr>
        <p:spPr>
          <a:xfrm>
            <a:off x="7429500" y="3359150"/>
            <a:ext cx="4000500" cy="48895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b58"/>
          <p:cNvSpPr txBox="1"/>
          <p:nvPr/>
        </p:nvSpPr>
        <p:spPr>
          <a:xfrm>
            <a:off x="857250" y="3435350"/>
            <a:ext cx="24765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멘토링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3524250" y="343535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집체 강의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524750" y="343535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1:1 밀착 매칭</a:t>
            </a:r>
          </a:p>
        </p:txBody>
      </p:sp>
      <p:sp>
        <p:nvSpPr>
          <p:cNvPr id="61" name="rect61"/>
          <p:cNvSpPr/>
          <p:nvPr/>
        </p:nvSpPr>
        <p:spPr>
          <a:xfrm>
            <a:off x="762000" y="3848100"/>
            <a:ext cx="2667000" cy="4889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62"/>
          <p:cNvSpPr/>
          <p:nvPr/>
        </p:nvSpPr>
        <p:spPr>
          <a:xfrm>
            <a:off x="3429000" y="3848100"/>
            <a:ext cx="4000500" cy="488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63"/>
          <p:cNvSpPr/>
          <p:nvPr/>
        </p:nvSpPr>
        <p:spPr>
          <a:xfrm>
            <a:off x="7429500" y="3848100"/>
            <a:ext cx="4000500" cy="48895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tb64"/>
          <p:cNvSpPr txBox="1"/>
          <p:nvPr/>
        </p:nvSpPr>
        <p:spPr>
          <a:xfrm>
            <a:off x="857250" y="3924300"/>
            <a:ext cx="24765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산출물</a:t>
            </a:r>
          </a:p>
        </p:txBody>
      </p:sp>
      <p:sp>
        <p:nvSpPr>
          <p:cNvPr id="65" name="tb65"/>
          <p:cNvSpPr txBox="1"/>
          <p:nvPr/>
        </p:nvSpPr>
        <p:spPr>
          <a:xfrm>
            <a:off x="3524250" y="392430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수료증</a:t>
            </a:r>
          </a:p>
        </p:txBody>
      </p:sp>
      <p:sp>
        <p:nvSpPr>
          <p:cNvPr id="66" name="tb66"/>
          <p:cNvSpPr txBox="1"/>
          <p:nvPr/>
        </p:nvSpPr>
        <p:spPr>
          <a:xfrm>
            <a:off x="7524750" y="392430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사업계획서·IR Deck</a:t>
            </a:r>
          </a:p>
        </p:txBody>
      </p:sp>
      <p:sp>
        <p:nvSpPr>
          <p:cNvPr id="67" name="rect67"/>
          <p:cNvSpPr/>
          <p:nvPr/>
        </p:nvSpPr>
        <p:spPr>
          <a:xfrm>
            <a:off x="762000" y="4337050"/>
            <a:ext cx="2667000" cy="4889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68"/>
          <p:cNvSpPr/>
          <p:nvPr/>
        </p:nvSpPr>
        <p:spPr>
          <a:xfrm>
            <a:off x="3429000" y="4337050"/>
            <a:ext cx="4000500" cy="488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69"/>
          <p:cNvSpPr/>
          <p:nvPr/>
        </p:nvSpPr>
        <p:spPr>
          <a:xfrm>
            <a:off x="7429500" y="4337050"/>
            <a:ext cx="4000500" cy="48895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b70"/>
          <p:cNvSpPr txBox="1"/>
          <p:nvPr/>
        </p:nvSpPr>
        <p:spPr>
          <a:xfrm>
            <a:off x="857250" y="4413250"/>
            <a:ext cx="24765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투자 연계</a:t>
            </a:r>
          </a:p>
        </p:txBody>
      </p:sp>
      <p:sp>
        <p:nvSpPr>
          <p:cNvPr id="71" name="tb71"/>
          <p:cNvSpPr txBox="1"/>
          <p:nvPr/>
        </p:nvSpPr>
        <p:spPr>
          <a:xfrm>
            <a:off x="3524250" y="441325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없음</a:t>
            </a:r>
          </a:p>
        </p:txBody>
      </p:sp>
      <p:sp>
        <p:nvSpPr>
          <p:cNvPr id="72" name="tb72"/>
          <p:cNvSpPr txBox="1"/>
          <p:nvPr/>
        </p:nvSpPr>
        <p:spPr>
          <a:xfrm>
            <a:off x="7524750" y="441325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데모데이 연계</a:t>
            </a:r>
          </a:p>
        </p:txBody>
      </p:sp>
      <p:sp>
        <p:nvSpPr>
          <p:cNvPr id="73" name="rect73"/>
          <p:cNvSpPr/>
          <p:nvPr/>
        </p:nvSpPr>
        <p:spPr>
          <a:xfrm>
            <a:off x="762000" y="4826000"/>
            <a:ext cx="2667000" cy="4889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74"/>
          <p:cNvSpPr/>
          <p:nvPr/>
        </p:nvSpPr>
        <p:spPr>
          <a:xfrm>
            <a:off x="3429000" y="4826000"/>
            <a:ext cx="4000500" cy="488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75"/>
          <p:cNvSpPr/>
          <p:nvPr/>
        </p:nvSpPr>
        <p:spPr>
          <a:xfrm>
            <a:off x="7429500" y="4826000"/>
            <a:ext cx="4000500" cy="48895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tb76"/>
          <p:cNvSpPr txBox="1"/>
          <p:nvPr/>
        </p:nvSpPr>
        <p:spPr>
          <a:xfrm>
            <a:off x="857250" y="4902200"/>
            <a:ext cx="24765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사후 관리</a:t>
            </a:r>
          </a:p>
        </p:txBody>
      </p:sp>
      <p:sp>
        <p:nvSpPr>
          <p:cNvPr id="77" name="tb77"/>
          <p:cNvSpPr txBox="1"/>
          <p:nvPr/>
        </p:nvSpPr>
        <p:spPr>
          <a:xfrm>
            <a:off x="3524250" y="490220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종료 후 단절</a:t>
            </a:r>
          </a:p>
        </p:txBody>
      </p:sp>
      <p:sp>
        <p:nvSpPr>
          <p:cNvPr id="78" name="tb78"/>
          <p:cNvSpPr txBox="1"/>
          <p:nvPr/>
        </p:nvSpPr>
        <p:spPr>
          <a:xfrm>
            <a:off x="7524750" y="4902200"/>
            <a:ext cx="3810000" cy="3746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373938"/>
                </a:solidFill>
                <a:latin typeface="NanumHuman"/>
                <a:ea typeface="NanumHuman"/>
              </a:rPr>
              <a:t>지역 인프라 후속 지원</a:t>
            </a:r>
          </a:p>
        </p:txBody>
      </p:sp>
      <p:sp>
        <p:nvSpPr>
          <p:cNvPr id="79" name="rect79"/>
          <p:cNvSpPr/>
          <p:nvPr/>
        </p:nvSpPr>
        <p:spPr>
          <a:xfrm>
            <a:off x="762000" y="5467350"/>
            <a:ext cx="10668000" cy="5905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tb80"/>
          <p:cNvSpPr txBox="1"/>
          <p:nvPr/>
        </p:nvSpPr>
        <p:spPr>
          <a:xfrm>
            <a:off x="904875" y="5524500"/>
            <a:ext cx="1905000" cy="190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81" name="tb81"/>
          <p:cNvSpPr txBox="1"/>
          <p:nvPr/>
        </p:nvSpPr>
        <p:spPr>
          <a:xfrm>
            <a:off x="904875" y="5715000"/>
            <a:ext cx="10382250" cy="3048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실행 중심 보육 시 참여기업의 사업계획서 완성률이 집체 교육 대비 현저히 높음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프로그램 운영 데이터)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데모데이 연계로 종료 후 단절을 막고 지역 정착·후속 투자로 이어짐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(본 사업 운영 설계)</a:t>
            </a:r>
          </a:p>
        </p:txBody>
      </p:sp>
      <p:sp>
        <p:nvSpPr>
          <p:cNvPr id="82" name="rect82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tb83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84" name="tb84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02 추진 전략 및 방법론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914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진단 기반 듀얼트랙으로 예비·초기창업가의 역량 격차를 해소합니다</a:t>
            </a:r>
          </a:p>
        </p:txBody>
      </p:sp>
      <p:sp>
        <p:nvSpPr>
          <p:cNvPr id="42" name="rect42"/>
          <p:cNvSpPr/>
          <p:nvPr/>
        </p:nvSpPr>
        <p:spPr>
          <a:xfrm>
            <a:off x="762000" y="22479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43"/>
          <p:cNvSpPr/>
          <p:nvPr/>
        </p:nvSpPr>
        <p:spPr>
          <a:xfrm>
            <a:off x="762000" y="2400300"/>
            <a:ext cx="38100" cy="914400"/>
          </a:xfrm>
          <a:prstGeom prst="rect">
            <a:avLst/>
          </a:prstGeom>
          <a:solidFill>
            <a:srgbClr val="F055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b44"/>
          <p:cNvSpPr txBox="1"/>
          <p:nvPr/>
        </p:nvSpPr>
        <p:spPr>
          <a:xfrm>
            <a:off x="914400" y="2381250"/>
            <a:ext cx="3848100" cy="952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역량 격차라는 현실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예비창업가와 3년 이내 초기창업가는 보유 자원과 검증 단계가 크게 다릅니다. 동일 커리큘럼을 일괄 적용하면 한쪽은 따라가지 못하고 다른 쪽은 지루해집니다. 진단으로 출발점을 측정하고 트랙을 나누는 것이 성과의 전제입니다.</a:t>
            </a:r>
          </a:p>
        </p:txBody>
      </p:sp>
      <p:sp>
        <p:nvSpPr>
          <p:cNvPr id="45" name="rect45"/>
          <p:cNvSpPr/>
          <p:nvPr/>
        </p:nvSpPr>
        <p:spPr>
          <a:xfrm>
            <a:off x="762000" y="3486150"/>
            <a:ext cx="38100" cy="914400"/>
          </a:xfrm>
          <a:prstGeom prst="rect">
            <a:avLst/>
          </a:prstGeom>
          <a:solidFill>
            <a:srgbClr val="F055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b46"/>
          <p:cNvSpPr txBox="1"/>
          <p:nvPr/>
        </p:nvSpPr>
        <p:spPr>
          <a:xfrm>
            <a:off x="914400" y="3467100"/>
            <a:ext cx="3848100" cy="952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듀얼트랙 운영 방식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예비 트랙은 아이디어 구체화·BM 설계에 무게를 두고, 초기 트랙은 시장 확장·투자 유치에 집중합니다. 공통 멘토링 세션으로 트랙 간 학습을 교차시켜 시너지를 만듭니다.</a:t>
            </a:r>
          </a:p>
        </p:txBody>
      </p:sp>
      <p:sp>
        <p:nvSpPr>
          <p:cNvPr id="47" name="rect47"/>
          <p:cNvSpPr/>
          <p:nvPr/>
        </p:nvSpPr>
        <p:spPr>
          <a:xfrm>
            <a:off x="762000" y="4572000"/>
            <a:ext cx="38100" cy="914400"/>
          </a:xfrm>
          <a:prstGeom prst="rect">
            <a:avLst/>
          </a:prstGeom>
          <a:solidFill>
            <a:srgbClr val="F05519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b48"/>
          <p:cNvSpPr txBox="1"/>
          <p:nvPr/>
        </p:nvSpPr>
        <p:spPr>
          <a:xfrm>
            <a:off x="914400" y="4552950"/>
            <a:ext cx="3848100" cy="952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성과 중심 사후관리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데모데이로 끝내지 않고 충남 창업 인프라와 연결해 후속 투자·정착을 지원합니다.</a:t>
            </a:r>
          </a:p>
        </p:txBody>
      </p:sp>
      <p:sp>
        <p:nvSpPr>
          <p:cNvPr id="49" name="rect49"/>
          <p:cNvSpPr/>
          <p:nvPr/>
        </p:nvSpPr>
        <p:spPr>
          <a:xfrm>
            <a:off x="5048250" y="2381250"/>
            <a:ext cx="1154430" cy="190500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b50"/>
          <p:cNvSpPr txBox="1"/>
          <p:nvPr/>
        </p:nvSpPr>
        <p:spPr>
          <a:xfrm>
            <a:off x="5124450" y="2476500"/>
            <a:ext cx="1002030" cy="1714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F05519"/>
                </a:solidFill>
                <a:latin typeface="Poppins"/>
                <a:ea typeface="NanumHuman"/>
              </a:rPr>
              <a:t>1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역량 진단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DOGS·BM 성숙도 측정</a:t>
            </a:r>
          </a:p>
        </p:txBody>
      </p:sp>
      <p:sp>
        <p:nvSpPr>
          <p:cNvPr id="51" name="rect51"/>
          <p:cNvSpPr/>
          <p:nvPr/>
        </p:nvSpPr>
        <p:spPr>
          <a:xfrm>
            <a:off x="6355080" y="2381250"/>
            <a:ext cx="1154430" cy="190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b52"/>
          <p:cNvSpPr txBox="1"/>
          <p:nvPr/>
        </p:nvSpPr>
        <p:spPr>
          <a:xfrm>
            <a:off x="6431280" y="2476500"/>
            <a:ext cx="1002030" cy="1714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F05519"/>
                </a:solidFill>
                <a:latin typeface="Poppins"/>
                <a:ea typeface="NanumHuman"/>
              </a:rPr>
              <a:t>2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트랙 배정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예비/초기 분기</a:t>
            </a:r>
          </a:p>
        </p:txBody>
      </p:sp>
      <p:sp>
        <p:nvSpPr>
          <p:cNvPr id="53" name="rect53"/>
          <p:cNvSpPr/>
          <p:nvPr/>
        </p:nvSpPr>
        <p:spPr>
          <a:xfrm>
            <a:off x="7661910" y="2381250"/>
            <a:ext cx="1154430" cy="190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tb54"/>
          <p:cNvSpPr txBox="1"/>
          <p:nvPr/>
        </p:nvSpPr>
        <p:spPr>
          <a:xfrm>
            <a:off x="7738110" y="2476500"/>
            <a:ext cx="1002030" cy="1714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F05519"/>
                </a:solidFill>
                <a:latin typeface="Poppins"/>
                <a:ea typeface="NanumHuman"/>
              </a:rPr>
              <a:t>3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맞춤 보육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트랙별 차등 커리큘럼</a:t>
            </a:r>
          </a:p>
        </p:txBody>
      </p:sp>
      <p:sp>
        <p:nvSpPr>
          <p:cNvPr id="55" name="rect55"/>
          <p:cNvSpPr/>
          <p:nvPr/>
        </p:nvSpPr>
        <p:spPr>
          <a:xfrm>
            <a:off x="8968740" y="2381250"/>
            <a:ext cx="1154430" cy="190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b56"/>
          <p:cNvSpPr txBox="1"/>
          <p:nvPr/>
        </p:nvSpPr>
        <p:spPr>
          <a:xfrm>
            <a:off x="9044940" y="2476500"/>
            <a:ext cx="1002030" cy="1714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F05519"/>
                </a:solidFill>
                <a:latin typeface="Poppins"/>
                <a:ea typeface="NanumHuman"/>
              </a:rPr>
              <a:t>4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교차 멘토링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공통 세션 시너지</a:t>
            </a:r>
          </a:p>
        </p:txBody>
      </p:sp>
      <p:sp>
        <p:nvSpPr>
          <p:cNvPr id="57" name="rect57"/>
          <p:cNvSpPr/>
          <p:nvPr/>
        </p:nvSpPr>
        <p:spPr>
          <a:xfrm>
            <a:off x="10275570" y="2381250"/>
            <a:ext cx="1154430" cy="190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b58"/>
          <p:cNvSpPr txBox="1"/>
          <p:nvPr/>
        </p:nvSpPr>
        <p:spPr>
          <a:xfrm>
            <a:off x="10351770" y="2476500"/>
            <a:ext cx="1002030" cy="1714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F05519"/>
                </a:solidFill>
                <a:latin typeface="Poppins"/>
                <a:ea typeface="NanumHuman"/>
              </a:rPr>
              <a:t>5</a:t>
            </a:r>
          </a:p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사후 연계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지역 인프라·투자</a:t>
            </a:r>
          </a:p>
        </p:txBody>
      </p:sp>
      <p:sp>
        <p:nvSpPr>
          <p:cNvPr id="59" name="rect59"/>
          <p:cNvSpPr/>
          <p:nvPr/>
        </p:nvSpPr>
        <p:spPr>
          <a:xfrm>
            <a:off x="762000" y="5657850"/>
            <a:ext cx="10668000" cy="400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b60"/>
          <p:cNvSpPr txBox="1"/>
          <p:nvPr/>
        </p:nvSpPr>
        <p:spPr>
          <a:xfrm>
            <a:off x="904875" y="5715000"/>
            <a:ext cx="1905000" cy="190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904875" y="5905500"/>
            <a:ext cx="10382250" cy="1143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진단 기반 차등 트랙 운영으로 참여자 만족도·완주율 동시 제고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운영 사례)</a:t>
            </a:r>
          </a:p>
        </p:txBody>
      </p:sp>
      <p:sp>
        <p:nvSpPr>
          <p:cNvPr id="62" name="rect62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b63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03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CURRICULUM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교육 커리큘럼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03 교육 커리큘럼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914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8개월 전주기 커리큘럼으로 아이디어 구체화부터 IR Deck 완성까지 단계별로 끌어올립니다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62000" y="1809750"/>
            <a:ext cx="10668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0" dirty="0">
                <a:solidFill>
                  <a:srgbClr val="878888"/>
                </a:solidFill>
                <a:latin typeface="NanumHuman"/>
                <a:ea typeface="NanumHuman"/>
              </a:rPr>
              <a:t>진단 → BM 설계 → 시장 검증 → 사업계획 → IR → 데모데이</a:t>
            </a:r>
          </a:p>
        </p:txBody>
      </p:sp>
      <p:sp>
        <p:nvSpPr>
          <p:cNvPr id="43" name="rect43"/>
          <p:cNvSpPr/>
          <p:nvPr/>
        </p:nvSpPr>
        <p:spPr>
          <a:xfrm>
            <a:off x="762000" y="22479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44"/>
          <p:cNvSpPr/>
          <p:nvPr/>
        </p:nvSpPr>
        <p:spPr>
          <a:xfrm>
            <a:off x="2152650" y="2381250"/>
            <a:ext cx="1131094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2152650" y="2438400"/>
            <a:ext cx="1131094" cy="2095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M1</a:t>
            </a:r>
          </a:p>
        </p:txBody>
      </p:sp>
      <p:sp>
        <p:nvSpPr>
          <p:cNvPr id="46" name="rect46"/>
          <p:cNvSpPr/>
          <p:nvPr/>
        </p:nvSpPr>
        <p:spPr>
          <a:xfrm>
            <a:off x="3312319" y="2381250"/>
            <a:ext cx="1131094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b47"/>
          <p:cNvSpPr txBox="1"/>
          <p:nvPr/>
        </p:nvSpPr>
        <p:spPr>
          <a:xfrm>
            <a:off x="3312319" y="2438400"/>
            <a:ext cx="1131094" cy="2095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M2</a:t>
            </a:r>
          </a:p>
        </p:txBody>
      </p:sp>
      <p:sp>
        <p:nvSpPr>
          <p:cNvPr id="48" name="rect48"/>
          <p:cNvSpPr/>
          <p:nvPr/>
        </p:nvSpPr>
        <p:spPr>
          <a:xfrm>
            <a:off x="4471988" y="2381250"/>
            <a:ext cx="1131094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4471988" y="2438400"/>
            <a:ext cx="1131094" cy="2095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M3</a:t>
            </a:r>
          </a:p>
        </p:txBody>
      </p:sp>
      <p:sp>
        <p:nvSpPr>
          <p:cNvPr id="50" name="rect50"/>
          <p:cNvSpPr/>
          <p:nvPr/>
        </p:nvSpPr>
        <p:spPr>
          <a:xfrm>
            <a:off x="5631656" y="2381250"/>
            <a:ext cx="1131094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5631656" y="2438400"/>
            <a:ext cx="1131094" cy="2095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M4</a:t>
            </a:r>
          </a:p>
        </p:txBody>
      </p:sp>
      <p:sp>
        <p:nvSpPr>
          <p:cNvPr id="52" name="rect52"/>
          <p:cNvSpPr/>
          <p:nvPr/>
        </p:nvSpPr>
        <p:spPr>
          <a:xfrm>
            <a:off x="6791325" y="2381250"/>
            <a:ext cx="1131094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b53"/>
          <p:cNvSpPr txBox="1"/>
          <p:nvPr/>
        </p:nvSpPr>
        <p:spPr>
          <a:xfrm>
            <a:off x="6791325" y="2438400"/>
            <a:ext cx="1131094" cy="2095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M5</a:t>
            </a:r>
          </a:p>
        </p:txBody>
      </p:sp>
      <p:sp>
        <p:nvSpPr>
          <p:cNvPr id="54" name="rect54"/>
          <p:cNvSpPr/>
          <p:nvPr/>
        </p:nvSpPr>
        <p:spPr>
          <a:xfrm>
            <a:off x="7950994" y="2381250"/>
            <a:ext cx="1131094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7950994" y="2438400"/>
            <a:ext cx="1131094" cy="2095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M6</a:t>
            </a:r>
          </a:p>
        </p:txBody>
      </p:sp>
      <p:sp>
        <p:nvSpPr>
          <p:cNvPr id="56" name="rect56"/>
          <p:cNvSpPr/>
          <p:nvPr/>
        </p:nvSpPr>
        <p:spPr>
          <a:xfrm>
            <a:off x="9110663" y="2381250"/>
            <a:ext cx="1131094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b57"/>
          <p:cNvSpPr txBox="1"/>
          <p:nvPr/>
        </p:nvSpPr>
        <p:spPr>
          <a:xfrm>
            <a:off x="9110663" y="2438400"/>
            <a:ext cx="1131094" cy="2095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M7</a:t>
            </a:r>
          </a:p>
        </p:txBody>
      </p:sp>
      <p:sp>
        <p:nvSpPr>
          <p:cNvPr id="58" name="rect58"/>
          <p:cNvSpPr/>
          <p:nvPr/>
        </p:nvSpPr>
        <p:spPr>
          <a:xfrm>
            <a:off x="10270331" y="2381250"/>
            <a:ext cx="1131094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b59"/>
          <p:cNvSpPr txBox="1"/>
          <p:nvPr/>
        </p:nvSpPr>
        <p:spPr>
          <a:xfrm>
            <a:off x="10270331" y="2438400"/>
            <a:ext cx="1131094" cy="2095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900" b="1" dirty="0">
                <a:solidFill>
                  <a:srgbClr val="4B4D4C"/>
                </a:solidFill>
                <a:latin typeface="NanumHuman"/>
                <a:ea typeface="NanumHuman"/>
              </a:rPr>
              <a:t>M8</a:t>
            </a:r>
          </a:p>
        </p:txBody>
      </p:sp>
      <p:sp>
        <p:nvSpPr>
          <p:cNvPr id="60" name="rect60"/>
          <p:cNvSpPr/>
          <p:nvPr/>
        </p:nvSpPr>
        <p:spPr>
          <a:xfrm>
            <a:off x="762000" y="2743200"/>
            <a:ext cx="1333500" cy="49149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b61"/>
          <p:cNvSpPr txBox="1"/>
          <p:nvPr/>
        </p:nvSpPr>
        <p:spPr>
          <a:xfrm>
            <a:off x="819150" y="2800350"/>
            <a:ext cx="1219200" cy="37719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진단·BM</a:t>
            </a:r>
          </a:p>
        </p:txBody>
      </p:sp>
      <p:sp>
        <p:nvSpPr>
          <p:cNvPr id="62" name="rect62"/>
          <p:cNvSpPr/>
          <p:nvPr/>
        </p:nvSpPr>
        <p:spPr>
          <a:xfrm>
            <a:off x="2152650" y="2800350"/>
            <a:ext cx="2262188" cy="37719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b63"/>
          <p:cNvSpPr txBox="1"/>
          <p:nvPr/>
        </p:nvSpPr>
        <p:spPr>
          <a:xfrm>
            <a:off x="2190750" y="2819400"/>
            <a:ext cx="2185988" cy="33909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역량 진단·BM 설계</a:t>
            </a:r>
          </a:p>
        </p:txBody>
      </p:sp>
      <p:sp>
        <p:nvSpPr>
          <p:cNvPr id="64" name="rect64"/>
          <p:cNvSpPr/>
          <p:nvPr/>
        </p:nvSpPr>
        <p:spPr>
          <a:xfrm>
            <a:off x="762000" y="3310890"/>
            <a:ext cx="1333500" cy="49149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b65"/>
          <p:cNvSpPr txBox="1"/>
          <p:nvPr/>
        </p:nvSpPr>
        <p:spPr>
          <a:xfrm>
            <a:off x="819150" y="3368040"/>
            <a:ext cx="1219200" cy="37719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시장 검증</a:t>
            </a:r>
          </a:p>
        </p:txBody>
      </p:sp>
      <p:sp>
        <p:nvSpPr>
          <p:cNvPr id="66" name="rect66"/>
          <p:cNvSpPr/>
          <p:nvPr/>
        </p:nvSpPr>
        <p:spPr>
          <a:xfrm>
            <a:off x="3312319" y="3368040"/>
            <a:ext cx="3421856" cy="37719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b67"/>
          <p:cNvSpPr txBox="1"/>
          <p:nvPr/>
        </p:nvSpPr>
        <p:spPr>
          <a:xfrm>
            <a:off x="3350419" y="3387090"/>
            <a:ext cx="3345656" cy="33909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고객 인터뷰·MVP 검증</a:t>
            </a:r>
          </a:p>
        </p:txBody>
      </p:sp>
      <p:sp>
        <p:nvSpPr>
          <p:cNvPr id="68" name="rect68"/>
          <p:cNvSpPr/>
          <p:nvPr/>
        </p:nvSpPr>
        <p:spPr>
          <a:xfrm>
            <a:off x="762000" y="3878580"/>
            <a:ext cx="1333500" cy="49149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b69"/>
          <p:cNvSpPr txBox="1"/>
          <p:nvPr/>
        </p:nvSpPr>
        <p:spPr>
          <a:xfrm>
            <a:off x="819150" y="3935730"/>
            <a:ext cx="1219200" cy="37719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사업화</a:t>
            </a:r>
          </a:p>
        </p:txBody>
      </p:sp>
      <p:sp>
        <p:nvSpPr>
          <p:cNvPr id="70" name="rect70"/>
          <p:cNvSpPr/>
          <p:nvPr/>
        </p:nvSpPr>
        <p:spPr>
          <a:xfrm>
            <a:off x="5631656" y="3935730"/>
            <a:ext cx="3421856" cy="37719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b71"/>
          <p:cNvSpPr txBox="1"/>
          <p:nvPr/>
        </p:nvSpPr>
        <p:spPr>
          <a:xfrm>
            <a:off x="5669756" y="3954780"/>
            <a:ext cx="3345656" cy="33909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사업계획서·재무모델</a:t>
            </a:r>
          </a:p>
        </p:txBody>
      </p:sp>
      <p:sp>
        <p:nvSpPr>
          <p:cNvPr id="72" name="rect72"/>
          <p:cNvSpPr/>
          <p:nvPr/>
        </p:nvSpPr>
        <p:spPr>
          <a:xfrm>
            <a:off x="762000" y="4446270"/>
            <a:ext cx="1333500" cy="49149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tb73"/>
          <p:cNvSpPr txBox="1"/>
          <p:nvPr/>
        </p:nvSpPr>
        <p:spPr>
          <a:xfrm>
            <a:off x="819150" y="4503420"/>
            <a:ext cx="1219200" cy="37719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투자 준비</a:t>
            </a:r>
          </a:p>
        </p:txBody>
      </p:sp>
      <p:sp>
        <p:nvSpPr>
          <p:cNvPr id="74" name="rect74"/>
          <p:cNvSpPr/>
          <p:nvPr/>
        </p:nvSpPr>
        <p:spPr>
          <a:xfrm>
            <a:off x="7950994" y="4503420"/>
            <a:ext cx="2262188" cy="37719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b75"/>
          <p:cNvSpPr txBox="1"/>
          <p:nvPr/>
        </p:nvSpPr>
        <p:spPr>
          <a:xfrm>
            <a:off x="7989094" y="4522470"/>
            <a:ext cx="2185988" cy="33909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IR Deck·피칭</a:t>
            </a:r>
          </a:p>
        </p:txBody>
      </p:sp>
      <p:sp>
        <p:nvSpPr>
          <p:cNvPr id="76" name="rect76"/>
          <p:cNvSpPr/>
          <p:nvPr/>
        </p:nvSpPr>
        <p:spPr>
          <a:xfrm>
            <a:off x="762000" y="5013960"/>
            <a:ext cx="1333500" cy="49149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tb77"/>
          <p:cNvSpPr txBox="1"/>
          <p:nvPr/>
        </p:nvSpPr>
        <p:spPr>
          <a:xfrm>
            <a:off x="819150" y="5071110"/>
            <a:ext cx="1219200" cy="37719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FFFFF"/>
                </a:solidFill>
                <a:latin typeface="NanumHuman"/>
                <a:ea typeface="NanumHuman"/>
              </a:rPr>
              <a:t>데모데이</a:t>
            </a:r>
          </a:p>
        </p:txBody>
      </p:sp>
      <p:sp>
        <p:nvSpPr>
          <p:cNvPr id="78" name="rect78"/>
          <p:cNvSpPr/>
          <p:nvPr/>
        </p:nvSpPr>
        <p:spPr>
          <a:xfrm>
            <a:off x="9110663" y="5071110"/>
            <a:ext cx="2262188" cy="377190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tb79"/>
          <p:cNvSpPr txBox="1"/>
          <p:nvPr/>
        </p:nvSpPr>
        <p:spPr>
          <a:xfrm>
            <a:off x="9148763" y="5090160"/>
            <a:ext cx="2185988" cy="33909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900" b="0" dirty="0">
                <a:solidFill>
                  <a:srgbClr val="373938"/>
                </a:solidFill>
                <a:latin typeface="NanumHuman"/>
                <a:ea typeface="NanumHuman"/>
              </a:rPr>
              <a:t>투자 연계·후속지원</a:t>
            </a:r>
          </a:p>
        </p:txBody>
      </p:sp>
      <p:sp>
        <p:nvSpPr>
          <p:cNvPr id="80" name="rect80"/>
          <p:cNvSpPr/>
          <p:nvPr/>
        </p:nvSpPr>
        <p:spPr>
          <a:xfrm>
            <a:off x="762000" y="5657850"/>
            <a:ext cx="10668000" cy="400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tb81"/>
          <p:cNvSpPr txBox="1"/>
          <p:nvPr/>
        </p:nvSpPr>
        <p:spPr>
          <a:xfrm>
            <a:off x="904875" y="5715000"/>
            <a:ext cx="1905000" cy="190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82" name="tb82"/>
          <p:cNvSpPr txBox="1"/>
          <p:nvPr/>
        </p:nvSpPr>
        <p:spPr>
          <a:xfrm>
            <a:off x="904875" y="5905500"/>
            <a:ext cx="10382250" cy="1143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8개월 동안 단계별 게이트(진단·검증·사업화·IR)로 30개사 전원 IR Deck 완성 보장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(본 사업 운영 설계)</a:t>
            </a:r>
          </a:p>
        </p:txBody>
      </p:sp>
      <p:sp>
        <p:nvSpPr>
          <p:cNvPr id="83" name="rect8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tb8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85" name="tb8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03 교육 커리큘럼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914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분기별 핵심 모듈을 명확한 산출물 단위로 설계하여 성과를 가시화합니다</a:t>
            </a:r>
          </a:p>
        </p:txBody>
      </p:sp>
      <p:sp>
        <p:nvSpPr>
          <p:cNvPr id="42" name="rect42"/>
          <p:cNvSpPr/>
          <p:nvPr/>
        </p:nvSpPr>
        <p:spPr>
          <a:xfrm>
            <a:off x="762000" y="22479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43"/>
          <p:cNvSpPr/>
          <p:nvPr/>
        </p:nvSpPr>
        <p:spPr>
          <a:xfrm>
            <a:off x="4572000" y="2381250"/>
            <a:ext cx="3048000" cy="514350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b44"/>
          <p:cNvSpPr txBox="1"/>
          <p:nvPr/>
        </p:nvSpPr>
        <p:spPr>
          <a:xfrm>
            <a:off x="4667250" y="2457450"/>
            <a:ext cx="2857500" cy="4000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NanumHuman"/>
                <a:ea typeface="NanumHuman"/>
              </a:rPr>
              <a:t>전주기 액셀러레이팅</a:t>
            </a:r>
          </a:p>
          <a:p>
            <a:pPr algn="ctr"/>
            <a:r>
              <a:rPr lang="ko-KR" altLang="en-US" sz="900" b="0" dirty="0">
                <a:solidFill>
                  <a:srgbClr val="D9D9D9"/>
                </a:solidFill>
                <a:latin typeface="NanumHuman"/>
                <a:ea typeface="NanumHuman"/>
              </a:rPr>
              <a:t>8개월 · 산출물 중심</a:t>
            </a:r>
          </a:p>
        </p:txBody>
      </p:sp>
      <p:sp>
        <p:nvSpPr>
          <p:cNvPr id="45" name="rect45"/>
          <p:cNvSpPr/>
          <p:nvPr/>
        </p:nvSpPr>
        <p:spPr>
          <a:xfrm>
            <a:off x="6086475" y="2895600"/>
            <a:ext cx="19050" cy="266700"/>
          </a:xfrm>
          <a:prstGeom prst="rect">
            <a:avLst/>
          </a:prstGeom>
          <a:solidFill>
            <a:srgbClr val="878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46"/>
          <p:cNvSpPr/>
          <p:nvPr/>
        </p:nvSpPr>
        <p:spPr>
          <a:xfrm>
            <a:off x="2031206" y="3143250"/>
            <a:ext cx="8129588" cy="19050"/>
          </a:xfrm>
          <a:prstGeom prst="rect">
            <a:avLst/>
          </a:prstGeom>
          <a:solidFill>
            <a:srgbClr val="878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47"/>
          <p:cNvSpPr/>
          <p:nvPr/>
        </p:nvSpPr>
        <p:spPr>
          <a:xfrm>
            <a:off x="2021681" y="3143250"/>
            <a:ext cx="19050" cy="228600"/>
          </a:xfrm>
          <a:prstGeom prst="rect">
            <a:avLst/>
          </a:prstGeom>
          <a:solidFill>
            <a:srgbClr val="878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48"/>
          <p:cNvSpPr/>
          <p:nvPr/>
        </p:nvSpPr>
        <p:spPr>
          <a:xfrm>
            <a:off x="762000" y="3371850"/>
            <a:ext cx="2538413" cy="1028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838200" y="3448050"/>
            <a:ext cx="2386013" cy="9144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100" b="1" dirty="0">
                <a:solidFill>
                  <a:srgbClr val="373938"/>
                </a:solidFill>
                <a:latin typeface="NanumHuman"/>
                <a:ea typeface="NanumHuman"/>
              </a:rPr>
              <a:t>1분기 진단·발굴</a:t>
            </a:r>
          </a:p>
          <a:p>
            <a:pPr algn="ctr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역량 진단</a:t>
            </a:r>
          </a:p>
          <a:p>
            <a:pPr algn="ctr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DOGS 진단 · BM 캔버스</a:t>
            </a:r>
          </a:p>
        </p:txBody>
      </p:sp>
      <p:sp>
        <p:nvSpPr>
          <p:cNvPr id="50" name="rect50"/>
          <p:cNvSpPr/>
          <p:nvPr/>
        </p:nvSpPr>
        <p:spPr>
          <a:xfrm>
            <a:off x="4731544" y="3143250"/>
            <a:ext cx="19050" cy="228600"/>
          </a:xfrm>
          <a:prstGeom prst="rect">
            <a:avLst/>
          </a:prstGeom>
          <a:solidFill>
            <a:srgbClr val="878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51"/>
          <p:cNvSpPr/>
          <p:nvPr/>
        </p:nvSpPr>
        <p:spPr>
          <a:xfrm>
            <a:off x="3471863" y="3371850"/>
            <a:ext cx="2538413" cy="1028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b52"/>
          <p:cNvSpPr txBox="1"/>
          <p:nvPr/>
        </p:nvSpPr>
        <p:spPr>
          <a:xfrm>
            <a:off x="3548063" y="3448050"/>
            <a:ext cx="2386013" cy="9144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100" b="1" dirty="0">
                <a:solidFill>
                  <a:srgbClr val="373938"/>
                </a:solidFill>
                <a:latin typeface="NanumHuman"/>
                <a:ea typeface="NanumHuman"/>
              </a:rPr>
              <a:t>2분기 시장 검증</a:t>
            </a:r>
          </a:p>
          <a:p>
            <a:pPr algn="ctr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고객 검증</a:t>
            </a:r>
          </a:p>
          <a:p>
            <a:pPr algn="ctr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인터뷰 · MVP</a:t>
            </a:r>
          </a:p>
        </p:txBody>
      </p:sp>
      <p:sp>
        <p:nvSpPr>
          <p:cNvPr id="53" name="rect53"/>
          <p:cNvSpPr/>
          <p:nvPr/>
        </p:nvSpPr>
        <p:spPr>
          <a:xfrm>
            <a:off x="7441406" y="3143250"/>
            <a:ext cx="19050" cy="228600"/>
          </a:xfrm>
          <a:prstGeom prst="rect">
            <a:avLst/>
          </a:prstGeom>
          <a:solidFill>
            <a:srgbClr val="878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54"/>
          <p:cNvSpPr/>
          <p:nvPr/>
        </p:nvSpPr>
        <p:spPr>
          <a:xfrm>
            <a:off x="6181725" y="3371850"/>
            <a:ext cx="2538413" cy="1028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b55"/>
          <p:cNvSpPr txBox="1"/>
          <p:nvPr/>
        </p:nvSpPr>
        <p:spPr>
          <a:xfrm>
            <a:off x="6257925" y="3448050"/>
            <a:ext cx="2386013" cy="9144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100" b="1" dirty="0">
                <a:solidFill>
                  <a:srgbClr val="373938"/>
                </a:solidFill>
                <a:latin typeface="NanumHuman"/>
                <a:ea typeface="NanumHuman"/>
              </a:rPr>
              <a:t>3분기 사업화</a:t>
            </a:r>
          </a:p>
          <a:p>
            <a:pPr algn="ctr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사업계획</a:t>
            </a:r>
          </a:p>
          <a:p>
            <a:pPr algn="ctr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재무모델 · 사업계획서</a:t>
            </a:r>
          </a:p>
        </p:txBody>
      </p:sp>
      <p:sp>
        <p:nvSpPr>
          <p:cNvPr id="56" name="rect56"/>
          <p:cNvSpPr/>
          <p:nvPr/>
        </p:nvSpPr>
        <p:spPr>
          <a:xfrm>
            <a:off x="10151269" y="3143250"/>
            <a:ext cx="19050" cy="228600"/>
          </a:xfrm>
          <a:prstGeom prst="rect">
            <a:avLst/>
          </a:prstGeom>
          <a:solidFill>
            <a:srgbClr val="87888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57"/>
          <p:cNvSpPr/>
          <p:nvPr/>
        </p:nvSpPr>
        <p:spPr>
          <a:xfrm>
            <a:off x="8891588" y="3371850"/>
            <a:ext cx="2538413" cy="1028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b58"/>
          <p:cNvSpPr txBox="1"/>
          <p:nvPr/>
        </p:nvSpPr>
        <p:spPr>
          <a:xfrm>
            <a:off x="8967788" y="3448050"/>
            <a:ext cx="2386013" cy="91440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100" b="1" dirty="0">
                <a:solidFill>
                  <a:srgbClr val="373938"/>
                </a:solidFill>
                <a:latin typeface="NanumHuman"/>
                <a:ea typeface="NanumHuman"/>
              </a:rPr>
              <a:t>4분기 투자 연계</a:t>
            </a:r>
          </a:p>
          <a:p>
            <a:pPr algn="ctr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IR</a:t>
            </a:r>
          </a:p>
          <a:p>
            <a:pPr algn="ctr"/>
            <a:r>
              <a:rPr lang="ko-KR" altLang="en-US" sz="900" b="0" dirty="0">
                <a:solidFill>
                  <a:srgbClr val="4B4D4C"/>
                </a:solidFill>
                <a:latin typeface="NanumHuman"/>
                <a:ea typeface="NanumHuman"/>
              </a:rPr>
              <a:t>IR Deck · 데모데이</a:t>
            </a:r>
          </a:p>
        </p:txBody>
      </p:sp>
      <p:sp>
        <p:nvSpPr>
          <p:cNvPr id="59" name="rect59"/>
          <p:cNvSpPr/>
          <p:nvPr/>
        </p:nvSpPr>
        <p:spPr>
          <a:xfrm>
            <a:off x="762000" y="4552950"/>
            <a:ext cx="25527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b60"/>
          <p:cNvSpPr txBox="1"/>
          <p:nvPr/>
        </p:nvSpPr>
        <p:spPr>
          <a:xfrm>
            <a:off x="876300" y="4648200"/>
            <a:ext cx="2324100" cy="8001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NanumHuman"/>
                <a:ea typeface="NanumHuman"/>
              </a:rPr>
              <a:t>1분기 — 발굴·진단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DOGS 성향 진단과 BM 캔버스로 30명 창업가의 출발점을 정렬하고 트랙을 차등 배정합니다.</a:t>
            </a:r>
          </a:p>
        </p:txBody>
      </p:sp>
      <p:sp>
        <p:nvSpPr>
          <p:cNvPr id="61" name="rect61"/>
          <p:cNvSpPr/>
          <p:nvPr/>
        </p:nvSpPr>
        <p:spPr>
          <a:xfrm>
            <a:off x="3467100" y="4552950"/>
            <a:ext cx="25527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b62"/>
          <p:cNvSpPr txBox="1"/>
          <p:nvPr/>
        </p:nvSpPr>
        <p:spPr>
          <a:xfrm>
            <a:off x="3581400" y="4648200"/>
            <a:ext cx="2324100" cy="8001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NanumHuman"/>
                <a:ea typeface="NanumHuman"/>
              </a:rPr>
              <a:t>2분기 — 시장 검증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고객 인터뷰와 MVP 실험으로 가설을 검증하고 핵심 문제·가치 제안을 확정합니다.</a:t>
            </a:r>
          </a:p>
        </p:txBody>
      </p:sp>
      <p:sp>
        <p:nvSpPr>
          <p:cNvPr id="63" name="rect63"/>
          <p:cNvSpPr/>
          <p:nvPr/>
        </p:nvSpPr>
        <p:spPr>
          <a:xfrm>
            <a:off x="6172200" y="4552950"/>
            <a:ext cx="25527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tb64"/>
          <p:cNvSpPr txBox="1"/>
          <p:nvPr/>
        </p:nvSpPr>
        <p:spPr>
          <a:xfrm>
            <a:off x="6286500" y="4648200"/>
            <a:ext cx="2324100" cy="8001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NanumHuman"/>
                <a:ea typeface="NanumHuman"/>
              </a:rPr>
              <a:t>3분기 — 사업화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재무모델과 사업계획서를 완성해 사업의 실현 가능성을 정량적으로 증명합니다.</a:t>
            </a:r>
          </a:p>
        </p:txBody>
      </p:sp>
      <p:sp>
        <p:nvSpPr>
          <p:cNvPr id="65" name="rect65"/>
          <p:cNvSpPr/>
          <p:nvPr/>
        </p:nvSpPr>
        <p:spPr>
          <a:xfrm>
            <a:off x="8877300" y="4552950"/>
            <a:ext cx="2552700" cy="99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tb66"/>
          <p:cNvSpPr txBox="1"/>
          <p:nvPr/>
        </p:nvSpPr>
        <p:spPr>
          <a:xfrm>
            <a:off x="8991600" y="4648200"/>
            <a:ext cx="2324100" cy="8001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05519"/>
                </a:solidFill>
                <a:latin typeface="NanumHuman"/>
                <a:ea typeface="NanumHuman"/>
              </a:rPr>
              <a:t>4분기 — 투자 연계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IR Deck을 다듬고 데모데이에서 실제 투자자·후속지원과 연결합니다.</a:t>
            </a:r>
          </a:p>
        </p:txBody>
      </p:sp>
      <p:sp>
        <p:nvSpPr>
          <p:cNvPr id="67" name="rect67"/>
          <p:cNvSpPr/>
          <p:nvPr/>
        </p:nvSpPr>
        <p:spPr>
          <a:xfrm>
            <a:off x="762000" y="5657850"/>
            <a:ext cx="10668000" cy="4000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tb68"/>
          <p:cNvSpPr txBox="1"/>
          <p:nvPr/>
        </p:nvSpPr>
        <p:spPr>
          <a:xfrm>
            <a:off x="904875" y="5715000"/>
            <a:ext cx="1905000" cy="190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69" name="tb69"/>
          <p:cNvSpPr txBox="1"/>
          <p:nvPr/>
        </p:nvSpPr>
        <p:spPr>
          <a:xfrm>
            <a:off x="904875" y="5905500"/>
            <a:ext cx="10382250" cy="1143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분기별 산출물(진단·MVP·사업계획서·IR Deck)이 명확해 30개사 100% 완성률 관리 가능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(본 사업 산출물 설계)</a:t>
            </a:r>
          </a:p>
        </p:txBody>
      </p:sp>
      <p:sp>
        <p:nvSpPr>
          <p:cNvPr id="70" name="rect70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b71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72" name="tb72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04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OPERATION &amp; COACHES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운영 체계 및 코치진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04 운영 체계 및 코치진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914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전담 PM·Lead 코치·분야별 멘토 3중 체계로 30개사 품질을 관리합니다</a:t>
            </a:r>
          </a:p>
        </p:txBody>
      </p:sp>
      <p:sp>
        <p:nvSpPr>
          <p:cNvPr id="42" name="rect42"/>
          <p:cNvSpPr/>
          <p:nvPr/>
        </p:nvSpPr>
        <p:spPr>
          <a:xfrm>
            <a:off x="762000" y="22479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43"/>
          <p:cNvSpPr/>
          <p:nvPr/>
        </p:nvSpPr>
        <p:spPr>
          <a:xfrm>
            <a:off x="762000" y="2381250"/>
            <a:ext cx="1704975" cy="676275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b44"/>
          <p:cNvSpPr txBox="1"/>
          <p:nvPr/>
        </p:nvSpPr>
        <p:spPr>
          <a:xfrm>
            <a:off x="857250" y="2457450"/>
            <a:ext cx="1514475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총괄</a:t>
            </a:r>
          </a:p>
        </p:txBody>
      </p:sp>
      <p:sp>
        <p:nvSpPr>
          <p:cNvPr id="45" name="rect45"/>
          <p:cNvSpPr/>
          <p:nvPr/>
        </p:nvSpPr>
        <p:spPr>
          <a:xfrm>
            <a:off x="2543175" y="2381250"/>
            <a:ext cx="4405313" cy="676275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b46"/>
          <p:cNvSpPr txBox="1"/>
          <p:nvPr/>
        </p:nvSpPr>
        <p:spPr>
          <a:xfrm>
            <a:off x="2600325" y="2457450"/>
            <a:ext cx="4291013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전담 PM</a:t>
            </a:r>
          </a:p>
        </p:txBody>
      </p:sp>
      <p:sp>
        <p:nvSpPr>
          <p:cNvPr id="47" name="rect47"/>
          <p:cNvSpPr/>
          <p:nvPr/>
        </p:nvSpPr>
        <p:spPr>
          <a:xfrm>
            <a:off x="7024688" y="2381250"/>
            <a:ext cx="4405313" cy="676275"/>
          </a:xfrm>
          <a:prstGeom prst="rect">
            <a:avLst/>
          </a:prstGeom>
          <a:solidFill>
            <a:srgbClr val="FDEBE3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b48"/>
          <p:cNvSpPr txBox="1"/>
          <p:nvPr/>
        </p:nvSpPr>
        <p:spPr>
          <a:xfrm>
            <a:off x="7081838" y="2457450"/>
            <a:ext cx="4291013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품질관리(QA)</a:t>
            </a:r>
          </a:p>
        </p:txBody>
      </p:sp>
      <p:sp>
        <p:nvSpPr>
          <p:cNvPr id="49" name="rect49"/>
          <p:cNvSpPr/>
          <p:nvPr/>
        </p:nvSpPr>
        <p:spPr>
          <a:xfrm>
            <a:off x="762000" y="3133725"/>
            <a:ext cx="1704975" cy="676275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b50"/>
          <p:cNvSpPr txBox="1"/>
          <p:nvPr/>
        </p:nvSpPr>
        <p:spPr>
          <a:xfrm>
            <a:off x="857250" y="3209925"/>
            <a:ext cx="1514475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코칭</a:t>
            </a:r>
          </a:p>
        </p:txBody>
      </p:sp>
      <p:sp>
        <p:nvSpPr>
          <p:cNvPr id="51" name="rect51"/>
          <p:cNvSpPr/>
          <p:nvPr/>
        </p:nvSpPr>
        <p:spPr>
          <a:xfrm>
            <a:off x="2543175" y="3133725"/>
            <a:ext cx="2911475" cy="6762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b52"/>
          <p:cNvSpPr txBox="1"/>
          <p:nvPr/>
        </p:nvSpPr>
        <p:spPr>
          <a:xfrm>
            <a:off x="2600325" y="3209925"/>
            <a:ext cx="2797175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Lead 코치</a:t>
            </a:r>
          </a:p>
        </p:txBody>
      </p:sp>
      <p:sp>
        <p:nvSpPr>
          <p:cNvPr id="53" name="rect53"/>
          <p:cNvSpPr/>
          <p:nvPr/>
        </p:nvSpPr>
        <p:spPr>
          <a:xfrm>
            <a:off x="5530850" y="3133725"/>
            <a:ext cx="2911475" cy="6762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tb54"/>
          <p:cNvSpPr txBox="1"/>
          <p:nvPr/>
        </p:nvSpPr>
        <p:spPr>
          <a:xfrm>
            <a:off x="5588000" y="3209925"/>
            <a:ext cx="2797175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트랙 코치</a:t>
            </a:r>
          </a:p>
        </p:txBody>
      </p:sp>
      <p:sp>
        <p:nvSpPr>
          <p:cNvPr id="55" name="rect55"/>
          <p:cNvSpPr/>
          <p:nvPr/>
        </p:nvSpPr>
        <p:spPr>
          <a:xfrm>
            <a:off x="8518525" y="3133725"/>
            <a:ext cx="2911475" cy="6762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b56"/>
          <p:cNvSpPr txBox="1"/>
          <p:nvPr/>
        </p:nvSpPr>
        <p:spPr>
          <a:xfrm>
            <a:off x="8575675" y="3209925"/>
            <a:ext cx="2797175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데모데이 디렉터</a:t>
            </a:r>
          </a:p>
        </p:txBody>
      </p:sp>
      <p:sp>
        <p:nvSpPr>
          <p:cNvPr id="57" name="rect57"/>
          <p:cNvSpPr/>
          <p:nvPr/>
        </p:nvSpPr>
        <p:spPr>
          <a:xfrm>
            <a:off x="762000" y="3886200"/>
            <a:ext cx="1704975" cy="676275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b58"/>
          <p:cNvSpPr txBox="1"/>
          <p:nvPr/>
        </p:nvSpPr>
        <p:spPr>
          <a:xfrm>
            <a:off x="857250" y="3962400"/>
            <a:ext cx="1514475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멘토</a:t>
            </a:r>
          </a:p>
        </p:txBody>
      </p:sp>
      <p:sp>
        <p:nvSpPr>
          <p:cNvPr id="59" name="rect59"/>
          <p:cNvSpPr/>
          <p:nvPr/>
        </p:nvSpPr>
        <p:spPr>
          <a:xfrm>
            <a:off x="2543175" y="3886200"/>
            <a:ext cx="2164556" cy="6762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b60"/>
          <p:cNvSpPr txBox="1"/>
          <p:nvPr/>
        </p:nvSpPr>
        <p:spPr>
          <a:xfrm>
            <a:off x="2600325" y="3962400"/>
            <a:ext cx="2050256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BM·재무</a:t>
            </a:r>
          </a:p>
        </p:txBody>
      </p:sp>
      <p:sp>
        <p:nvSpPr>
          <p:cNvPr id="61" name="rect61"/>
          <p:cNvSpPr/>
          <p:nvPr/>
        </p:nvSpPr>
        <p:spPr>
          <a:xfrm>
            <a:off x="4783931" y="3886200"/>
            <a:ext cx="2164556" cy="6762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b62"/>
          <p:cNvSpPr txBox="1"/>
          <p:nvPr/>
        </p:nvSpPr>
        <p:spPr>
          <a:xfrm>
            <a:off x="4841081" y="3962400"/>
            <a:ext cx="2050256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마케팅</a:t>
            </a:r>
          </a:p>
        </p:txBody>
      </p:sp>
      <p:sp>
        <p:nvSpPr>
          <p:cNvPr id="63" name="rect63"/>
          <p:cNvSpPr/>
          <p:nvPr/>
        </p:nvSpPr>
        <p:spPr>
          <a:xfrm>
            <a:off x="7024688" y="3886200"/>
            <a:ext cx="2164556" cy="6762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tb64"/>
          <p:cNvSpPr txBox="1"/>
          <p:nvPr/>
        </p:nvSpPr>
        <p:spPr>
          <a:xfrm>
            <a:off x="7081838" y="3962400"/>
            <a:ext cx="2050256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법무·IP</a:t>
            </a:r>
          </a:p>
        </p:txBody>
      </p:sp>
      <p:sp>
        <p:nvSpPr>
          <p:cNvPr id="65" name="rect65"/>
          <p:cNvSpPr/>
          <p:nvPr/>
        </p:nvSpPr>
        <p:spPr>
          <a:xfrm>
            <a:off x="9265444" y="3886200"/>
            <a:ext cx="2164556" cy="6762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tb66"/>
          <p:cNvSpPr txBox="1"/>
          <p:nvPr/>
        </p:nvSpPr>
        <p:spPr>
          <a:xfrm>
            <a:off x="9322594" y="3962400"/>
            <a:ext cx="2050256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투자(IR)</a:t>
            </a:r>
          </a:p>
        </p:txBody>
      </p:sp>
      <p:sp>
        <p:nvSpPr>
          <p:cNvPr id="67" name="rect67"/>
          <p:cNvSpPr/>
          <p:nvPr/>
        </p:nvSpPr>
        <p:spPr>
          <a:xfrm>
            <a:off x="762000" y="4638675"/>
            <a:ext cx="1704975" cy="676275"/>
          </a:xfrm>
          <a:prstGeom prst="rect">
            <a:avLst/>
          </a:prstGeom>
          <a:solidFill>
            <a:srgbClr val="373938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tb68"/>
          <p:cNvSpPr txBox="1"/>
          <p:nvPr/>
        </p:nvSpPr>
        <p:spPr>
          <a:xfrm>
            <a:off x="857250" y="4714875"/>
            <a:ext cx="1514475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NanumHuman"/>
                <a:ea typeface="NanumHuman"/>
              </a:rPr>
              <a:t>인프라</a:t>
            </a:r>
          </a:p>
        </p:txBody>
      </p:sp>
      <p:sp>
        <p:nvSpPr>
          <p:cNvPr id="69" name="rect69"/>
          <p:cNvSpPr/>
          <p:nvPr/>
        </p:nvSpPr>
        <p:spPr>
          <a:xfrm>
            <a:off x="2543175" y="4638675"/>
            <a:ext cx="4405313" cy="6762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b70"/>
          <p:cNvSpPr txBox="1"/>
          <p:nvPr/>
        </p:nvSpPr>
        <p:spPr>
          <a:xfrm>
            <a:off x="2600325" y="4714875"/>
            <a:ext cx="4291013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충남 창조경제혁신센터</a:t>
            </a:r>
          </a:p>
        </p:txBody>
      </p:sp>
      <p:sp>
        <p:nvSpPr>
          <p:cNvPr id="71" name="rect71"/>
          <p:cNvSpPr/>
          <p:nvPr/>
        </p:nvSpPr>
        <p:spPr>
          <a:xfrm>
            <a:off x="7024688" y="4638675"/>
            <a:ext cx="4405313" cy="6762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b72"/>
          <p:cNvSpPr txBox="1"/>
          <p:nvPr/>
        </p:nvSpPr>
        <p:spPr>
          <a:xfrm>
            <a:off x="7081838" y="4714875"/>
            <a:ext cx="4291013" cy="561975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ctr"/>
            <a:r>
              <a:rPr lang="ko-KR" altLang="en-US" sz="1000" b="0" dirty="0">
                <a:solidFill>
                  <a:srgbClr val="373938"/>
                </a:solidFill>
                <a:latin typeface="NanumHuman"/>
                <a:ea typeface="NanumHuman"/>
              </a:rPr>
              <a:t>지역 네트워크</a:t>
            </a:r>
          </a:p>
        </p:txBody>
      </p:sp>
      <p:sp>
        <p:nvSpPr>
          <p:cNvPr id="73" name="rect73"/>
          <p:cNvSpPr/>
          <p:nvPr/>
        </p:nvSpPr>
        <p:spPr>
          <a:xfrm>
            <a:off x="762000" y="5467350"/>
            <a:ext cx="10668000" cy="5905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tb74"/>
          <p:cNvSpPr txBox="1"/>
          <p:nvPr/>
        </p:nvSpPr>
        <p:spPr>
          <a:xfrm>
            <a:off x="904875" y="5524500"/>
            <a:ext cx="1905000" cy="190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75" name="tb75"/>
          <p:cNvSpPr txBox="1"/>
          <p:nvPr/>
        </p:nvSpPr>
        <p:spPr>
          <a:xfrm>
            <a:off x="904875" y="5715000"/>
            <a:ext cx="10382250" cy="3048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전담 PM이 30개사 진척을 주 단위로 관리하고 QA가 산출물 품질을 검수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(본 사업 운영 설계)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715명 코치 풀에서 사업 분야별 최적 멘토를 매칭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코치 디렉터리)</a:t>
            </a:r>
          </a:p>
        </p:txBody>
      </p:sp>
      <p:sp>
        <p:nvSpPr>
          <p:cNvPr id="76" name="rect76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tb77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78" name="tb78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05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BUDGET &amp; FEASIBILITY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예산 및 경제성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06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IMPACT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기대 성과 및 임팩트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07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62000" y="2762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TRACK RECORD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2000" y="3714750"/>
            <a:ext cx="9525000" cy="571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800" b="1" dirty="0">
                <a:solidFill>
                  <a:srgbClr val="FFFFFF"/>
                </a:solidFill>
                <a:latin typeface="NanumHuman"/>
                <a:ea typeface="NanumHuman"/>
              </a:rPr>
              <a:t>수행 역량 및 실적</a:t>
            </a:r>
          </a:p>
        </p:txBody>
      </p:sp>
      <p:sp>
        <p:nvSpPr>
          <p:cNvPr id="33" name="rect33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FFFFFF"/>
                </a:solidFill>
                <a:latin typeface="Poppins"/>
                <a:ea typeface="NanumHu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b40"/>
          <p:cNvSpPr txBox="1"/>
          <p:nvPr/>
        </p:nvSpPr>
        <p:spPr>
          <a:xfrm>
            <a:off x="762000" y="476250"/>
            <a:ext cx="9525000" cy="3238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100" b="1" dirty="0">
                <a:solidFill>
                  <a:srgbClr val="F05519"/>
                </a:solidFill>
                <a:latin typeface="Poppins"/>
                <a:ea typeface="NanumHuman"/>
              </a:rPr>
              <a:t>07 수행 역량 및 실적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762000" y="819150"/>
            <a:ext cx="10668000" cy="9144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2000" b="1" dirty="0">
                <a:solidFill>
                  <a:srgbClr val="373938"/>
                </a:solidFill>
                <a:latin typeface="NanumHuman"/>
                <a:ea typeface="NanumHuman"/>
              </a:rPr>
              <a:t>10년간 누적 2만여 명을 육성한 실행 중심 보육 역량으로 성과를 담보합니다</a:t>
            </a:r>
          </a:p>
        </p:txBody>
      </p:sp>
      <p:sp>
        <p:nvSpPr>
          <p:cNvPr id="42" name="rect42"/>
          <p:cNvSpPr/>
          <p:nvPr/>
        </p:nvSpPr>
        <p:spPr>
          <a:xfrm>
            <a:off x="762000" y="2247900"/>
            <a:ext cx="10668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43"/>
          <p:cNvSpPr/>
          <p:nvPr/>
        </p:nvSpPr>
        <p:spPr>
          <a:xfrm>
            <a:off x="762000" y="2381250"/>
            <a:ext cx="1647825" cy="1428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b44"/>
          <p:cNvSpPr txBox="1"/>
          <p:nvPr/>
        </p:nvSpPr>
        <p:spPr>
          <a:xfrm>
            <a:off x="857250" y="2476500"/>
            <a:ext cx="1457325" cy="12382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05519"/>
                </a:solidFill>
                <a:latin typeface="Poppins"/>
                <a:ea typeface="NanumHuman"/>
              </a:rPr>
              <a:t>20,211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명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누적 육성 창업가</a:t>
            </a:r>
          </a:p>
        </p:txBody>
      </p:sp>
      <p:sp>
        <p:nvSpPr>
          <p:cNvPr id="45" name="rect45"/>
          <p:cNvSpPr/>
          <p:nvPr/>
        </p:nvSpPr>
        <p:spPr>
          <a:xfrm>
            <a:off x="2562225" y="2381250"/>
            <a:ext cx="1647825" cy="1428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b46"/>
          <p:cNvSpPr txBox="1"/>
          <p:nvPr/>
        </p:nvSpPr>
        <p:spPr>
          <a:xfrm>
            <a:off x="2657475" y="2476500"/>
            <a:ext cx="1457325" cy="12382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05519"/>
                </a:solidFill>
                <a:latin typeface="Poppins"/>
                <a:ea typeface="NanumHuman"/>
              </a:rPr>
              <a:t>715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명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활성 코치·멘토 풀</a:t>
            </a:r>
          </a:p>
        </p:txBody>
      </p:sp>
      <p:sp>
        <p:nvSpPr>
          <p:cNvPr id="47" name="rect47"/>
          <p:cNvSpPr/>
          <p:nvPr/>
        </p:nvSpPr>
        <p:spPr>
          <a:xfrm>
            <a:off x="4362450" y="2381250"/>
            <a:ext cx="1647825" cy="1428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b48"/>
          <p:cNvSpPr txBox="1"/>
          <p:nvPr/>
        </p:nvSpPr>
        <p:spPr>
          <a:xfrm>
            <a:off x="4457700" y="2476500"/>
            <a:ext cx="1457325" cy="12382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05519"/>
                </a:solidFill>
                <a:latin typeface="Poppins"/>
                <a:ea typeface="NanumHuman"/>
              </a:rPr>
              <a:t>10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년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보육 운영 연수</a:t>
            </a:r>
          </a:p>
        </p:txBody>
      </p:sp>
      <p:sp>
        <p:nvSpPr>
          <p:cNvPr id="49" name="rect49"/>
          <p:cNvSpPr/>
          <p:nvPr/>
        </p:nvSpPr>
        <p:spPr>
          <a:xfrm>
            <a:off x="6162675" y="2381250"/>
            <a:ext cx="1647825" cy="1428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b50"/>
          <p:cNvSpPr txBox="1"/>
          <p:nvPr/>
        </p:nvSpPr>
        <p:spPr>
          <a:xfrm>
            <a:off x="6257925" y="2476500"/>
            <a:ext cx="1457325" cy="12382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05519"/>
                </a:solidFill>
                <a:latin typeface="Poppins"/>
                <a:ea typeface="NanumHuman"/>
              </a:rPr>
              <a:t>8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개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전국 거점</a:t>
            </a:r>
          </a:p>
        </p:txBody>
      </p:sp>
      <p:sp>
        <p:nvSpPr>
          <p:cNvPr id="51" name="rect51"/>
          <p:cNvSpPr/>
          <p:nvPr/>
        </p:nvSpPr>
        <p:spPr>
          <a:xfrm>
            <a:off x="762000" y="3962400"/>
            <a:ext cx="1647825" cy="1428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b52"/>
          <p:cNvSpPr txBox="1"/>
          <p:nvPr/>
        </p:nvSpPr>
        <p:spPr>
          <a:xfrm>
            <a:off x="857250" y="4057650"/>
            <a:ext cx="1457325" cy="12382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05519"/>
                </a:solidFill>
                <a:latin typeface="Poppins"/>
                <a:ea typeface="NanumHuman"/>
              </a:rPr>
              <a:t>100%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산출물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사업계획서 도출 목표</a:t>
            </a:r>
          </a:p>
        </p:txBody>
      </p:sp>
      <p:sp>
        <p:nvSpPr>
          <p:cNvPr id="53" name="rect53"/>
          <p:cNvSpPr/>
          <p:nvPr/>
        </p:nvSpPr>
        <p:spPr>
          <a:xfrm>
            <a:off x="2562225" y="3962400"/>
            <a:ext cx="1647825" cy="14287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tb54"/>
          <p:cNvSpPr txBox="1"/>
          <p:nvPr/>
        </p:nvSpPr>
        <p:spPr>
          <a:xfrm>
            <a:off x="2657475" y="4057650"/>
            <a:ext cx="1457325" cy="1238250"/>
          </a:xfrm>
          <a:prstGeom prst="rect">
            <a:avLst/>
          </a:prstGeom>
          <a:noFill/>
        </p:spPr>
        <p:txBody>
          <a:bodyPr wrap="square" anchor="ctr" lIns="91440" tIns="45720" rIns="91440" bIns="45720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F05519"/>
                </a:solidFill>
                <a:latin typeface="Poppins"/>
                <a:ea typeface="NanumHuman"/>
              </a:rPr>
              <a:t>30</a:t>
            </a:r>
          </a:p>
          <a:p>
            <a:pPr algn="l"/>
            <a:r>
              <a:rPr lang="ko-KR" altLang="en-US" sz="1200" b="1" dirty="0">
                <a:solidFill>
                  <a:srgbClr val="373938"/>
                </a:solidFill>
                <a:latin typeface="NanumHuman"/>
                <a:ea typeface="NanumHuman"/>
              </a:rPr>
              <a:t>개사</a:t>
            </a:r>
          </a:p>
          <a:p>
            <a:pPr algn="l"/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본 사업 동시 보육</a:t>
            </a:r>
          </a:p>
        </p:txBody>
      </p:sp>
      <p:sp>
        <p:nvSpPr>
          <p:cNvPr id="55" name="rect55"/>
          <p:cNvSpPr/>
          <p:nvPr/>
        </p:nvSpPr>
        <p:spPr>
          <a:xfrm>
            <a:off x="8001000" y="2400300"/>
            <a:ext cx="38100" cy="2895600"/>
          </a:xfrm>
          <a:prstGeom prst="rect">
            <a:avLst/>
          </a:prstGeom>
          <a:solidFill>
            <a:srgbClr val="F05519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b56"/>
          <p:cNvSpPr txBox="1"/>
          <p:nvPr/>
        </p:nvSpPr>
        <p:spPr>
          <a:xfrm>
            <a:off x="8153400" y="2381250"/>
            <a:ext cx="3276600" cy="29337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373938"/>
                </a:solidFill>
                <a:latin typeface="NanumHuman"/>
                <a:ea typeface="NanumHuman"/>
              </a:rPr>
              <a:t>실적이 곧 리스크 관리</a:t>
            </a:r>
          </a:p>
          <a:p>
            <a:pPr algn="l"/>
            <a:r>
              <a:rPr lang="ko-KR" altLang="en-US" sz="1100" b="0" dirty="0">
                <a:solidFill>
                  <a:srgbClr val="4B4D4C"/>
                </a:solidFill>
                <a:latin typeface="NanumHuman"/>
                <a:ea typeface="NanumHuman"/>
              </a:rPr>
              <a:t>대규모 보육 운영 경험은 30개사 동시 관리, 멘토 매칭, 산출물 품질관리의 표준 프로세스로 축적되어 본 사업의 납기·품질 리스크를 구조적으로 낮춥니다.</a:t>
            </a:r>
          </a:p>
        </p:txBody>
      </p:sp>
      <p:sp>
        <p:nvSpPr>
          <p:cNvPr id="57" name="rect57"/>
          <p:cNvSpPr/>
          <p:nvPr/>
        </p:nvSpPr>
        <p:spPr>
          <a:xfrm>
            <a:off x="762000" y="5467350"/>
            <a:ext cx="10668000" cy="5905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b58"/>
          <p:cNvSpPr txBox="1"/>
          <p:nvPr/>
        </p:nvSpPr>
        <p:spPr>
          <a:xfrm>
            <a:off x="904875" y="5524500"/>
            <a:ext cx="1905000" cy="1905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1" dirty="0">
                <a:solidFill>
                  <a:srgbClr val="F05519"/>
                </a:solidFill>
                <a:latin typeface="NanumHuman"/>
                <a:ea typeface="NanumHuman"/>
              </a:rPr>
              <a:t>근거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904875" y="5715000"/>
            <a:ext cx="10382250" cy="3048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누적 20,211명 육성·715명 코치 풀로 30개사 동시 보육의 멘토 매칭 여력 충분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2015–2025 누적 실적)</a:t>
            </a:r>
          </a:p>
          <a:p>
            <a:pPr algn="l"/>
            <a:r>
              <a:rPr lang="ko-KR" altLang="en-US" sz="1000" b="0" dirty="0">
                <a:solidFill>
                  <a:srgbClr val="4B4D4C"/>
                </a:solidFill>
                <a:latin typeface="NanumHuman"/>
                <a:ea typeface="NanumHuman"/>
              </a:rPr>
              <a:t>• 전국 8개 거점 운영 경험으로 지역(충남) 밀착 현장 운영 가능</a:t>
            </a:r>
            <a:r>
              <a:rPr lang="ko-KR" altLang="en-US" sz="900" b="0" dirty="0">
                <a:solidFill>
                  <a:srgbClr val="878888"/>
                </a:solidFill>
                <a:latin typeface="NanumHuman"/>
                <a:ea typeface="NanumHuman"/>
              </a:rPr>
              <a:t> (언더독스 운영 현황)</a:t>
            </a:r>
          </a:p>
        </p:txBody>
      </p:sp>
      <p:sp>
        <p:nvSpPr>
          <p:cNvPr id="60" name="rect60"/>
          <p:cNvSpPr/>
          <p:nvPr/>
        </p:nvSpPr>
        <p:spPr>
          <a:xfrm>
            <a:off x="571500" y="61722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b61"/>
          <p:cNvSpPr txBox="1"/>
          <p:nvPr/>
        </p:nvSpPr>
        <p:spPr>
          <a:xfrm>
            <a:off x="571500" y="6238875"/>
            <a:ext cx="571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l"/>
            <a:r>
              <a:rPr lang="ko-KR" altLang="en-US" sz="900" b="1" dirty="0">
                <a:solidFill>
                  <a:srgbClr val="878888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62" name="tb62"/>
          <p:cNvSpPr txBox="1"/>
          <p:nvPr/>
        </p:nvSpPr>
        <p:spPr>
          <a:xfrm>
            <a:off x="10287000" y="6238875"/>
            <a:ext cx="17145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r"/>
            <a:r>
              <a:rPr lang="ko-KR" altLang="en-US" sz="900" b="0" dirty="0">
                <a:solidFill>
                  <a:srgbClr val="878888"/>
                </a:solidFill>
                <a:latin typeface="Poppins"/>
                <a:ea typeface="NanumHu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b90"/>
          <p:cNvSpPr txBox="1"/>
          <p:nvPr/>
        </p:nvSpPr>
        <p:spPr>
          <a:xfrm>
            <a:off x="762000" y="2667000"/>
            <a:ext cx="952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ctr"/>
            <a:r>
              <a:rPr lang="ko-KR" altLang="en-US" sz="1400" b="1" dirty="0">
                <a:solidFill>
                  <a:srgbClr val="F05519"/>
                </a:solidFill>
                <a:latin typeface="Poppins"/>
                <a:ea typeface="NanumHuman"/>
              </a:rPr>
              <a:t>THANK YOU</a:t>
            </a:r>
          </a:p>
        </p:txBody>
      </p:sp>
      <p:sp>
        <p:nvSpPr>
          <p:cNvPr id="91" name="tb91"/>
          <p:cNvSpPr txBox="1"/>
          <p:nvPr/>
        </p:nvSpPr>
        <p:spPr>
          <a:xfrm>
            <a:off x="762000" y="3143250"/>
            <a:ext cx="9525000" cy="85725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ctr"/>
            <a:r>
              <a:rPr lang="ko-KR" altLang="en-US" sz="4000" b="1" dirty="0">
                <a:solidFill>
                  <a:srgbClr val="FFFFFF"/>
                </a:solidFill>
                <a:latin typeface="Poppins"/>
                <a:ea typeface="NanumHuman"/>
              </a:rPr>
              <a:t>UNDERDOGS</a:t>
            </a:r>
          </a:p>
        </p:txBody>
      </p:sp>
      <p:sp>
        <p:nvSpPr>
          <p:cNvPr id="92" name="tb92"/>
          <p:cNvSpPr txBox="1"/>
          <p:nvPr/>
        </p:nvSpPr>
        <p:spPr>
          <a:xfrm>
            <a:off x="762000" y="4095750"/>
            <a:ext cx="9525000" cy="381000"/>
          </a:xfrm>
          <a:prstGeom prst="rect">
            <a:avLst/>
          </a:prstGeom>
          <a:noFill/>
        </p:spPr>
        <p:txBody>
          <a:bodyPr wrap="square" anchor="t" lIns="91440" tIns="45720" rIns="91440" bIns="45720">
            <a:normAutofit/>
          </a:bodyPr>
          <a:lstStyle/>
          <a:p>
            <a:pPr algn="ctr"/>
            <a:r>
              <a:rPr lang="ko-KR" altLang="en-US" sz="1400" b="0" dirty="0">
                <a:solidFill>
                  <a:srgbClr val="FFFFFF"/>
                </a:solidFill>
                <a:latin typeface="NanumHuman"/>
                <a:ea typeface="NanumHuman"/>
              </a:rPr>
              <a:t>창업가의 페이스 메이커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derdogs">
  <a:themeElements>
    <a:clrScheme name="Underdogs">
      <a:dk1>
        <a:srgbClr val="373938"/>
      </a:dk1>
      <a:lt1>
        <a:srgbClr val="FFFFFF"/>
      </a:lt1>
      <a:dk2>
        <a:srgbClr val="373938"/>
      </a:dk2>
      <a:lt2>
        <a:srgbClr val="D9D9D9"/>
      </a:lt2>
      <a:accent1>
        <a:srgbClr val="F05519"/>
      </a:accent1>
      <a:accent2>
        <a:srgbClr val="F48053"/>
      </a:accent2>
      <a:accent3>
        <a:srgbClr val="878888"/>
      </a:accent3>
      <a:accent4>
        <a:srgbClr val="D8D4D7"/>
      </a:accent4>
      <a:accent5>
        <a:srgbClr val="06A9D0"/>
      </a:accent5>
      <a:accent6>
        <a:srgbClr val="F9BBA3"/>
      </a:accent6>
      <a:hlink>
        <a:srgbClr val="F05519"/>
      </a:hlink>
      <a:folHlink>
        <a:srgbClr val="878888"/>
      </a:folHlink>
    </a:clrScheme>
    <a:fontScheme name="Underdogs">
      <a:majorFont>
        <a:latin typeface="Poppins"/>
        <a:ea typeface="NanumHuman"/>
        <a:cs typeface="NanumHuman"/>
      </a:majorFont>
      <a:minorFont>
        <a:latin typeface="Poppins"/>
        <a:ea typeface="NanumHuman"/>
        <a:cs typeface="NanumHuman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