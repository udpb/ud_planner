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62000" y="2095500"/>
            <a:ext cx="952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400" b="1" dirty="0">
                <a:solidFill>
                  <a:srgbClr val="F05519"/>
                </a:solidFill>
                <a:latin typeface="Poppins"/>
                <a:ea typeface="NanumHuman"/>
              </a:rPr>
              <a:t>충청남도 창조경제혁신센터</a:t>
            </a:r>
          </a:p>
        </p:txBody>
      </p:sp>
      <p:sp>
        <p:nvSpPr>
          <p:cNvPr id="11" name="tb11"/>
          <p:cNvSpPr txBox="1"/>
          <p:nvPr/>
        </p:nvSpPr>
        <p:spPr>
          <a:xfrm>
            <a:off x="762000" y="2571750"/>
            <a:ext cx="10477500" cy="1524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373938"/>
                </a:solidFill>
                <a:latin typeface="NanumHuman"/>
                <a:ea typeface="NanumHuman"/>
              </a:rPr>
              <a:t>2026 청년 예비창업가 발굴·육성 프로그램</a:t>
            </a:r>
          </a:p>
        </p:txBody>
      </p:sp>
      <p:sp>
        <p:nvSpPr>
          <p:cNvPr id="12" name="tb12"/>
          <p:cNvSpPr txBox="1"/>
          <p:nvPr/>
        </p:nvSpPr>
        <p:spPr>
          <a:xfrm>
            <a:off x="762000" y="4286250"/>
            <a:ext cx="8572500" cy="1143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600" b="0" dirty="0">
                <a:solidFill>
                  <a:srgbClr val="4B4D4C"/>
                </a:solidFill>
                <a:latin typeface="NanumHuman"/>
                <a:ea typeface="NanumHuman"/>
              </a:rPr>
              <a:t>충남 청년 예비·초기창업가 30명을 발굴해 BM 고도화·데모데이·투자연계로 지역 정착형 창업 생태계를 활성화하는 8개월 육성 프로그램.</a:t>
            </a:r>
          </a:p>
        </p:txBody>
      </p:sp>
      <p:sp>
        <p:nvSpPr>
          <p:cNvPr id="13" name="tb13"/>
          <p:cNvSpPr txBox="1"/>
          <p:nvPr/>
        </p:nvSpPr>
        <p:spPr>
          <a:xfrm>
            <a:off x="762000" y="6096000"/>
            <a:ext cx="5715000" cy="4762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400" b="1" dirty="0">
                <a:solidFill>
                  <a:srgbClr val="F05519"/>
                </a:solidFill>
                <a:latin typeface="Poppins"/>
                <a:ea typeface="NanumHuman"/>
              </a:rPr>
              <a:t>underdogs.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b20"/>
          <p:cNvSpPr txBox="1"/>
          <p:nvPr/>
        </p:nvSpPr>
        <p:spPr>
          <a:xfrm>
            <a:off x="762000" y="476250"/>
            <a:ext cx="3810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05519"/>
                </a:solidFill>
                <a:latin typeface="Poppins"/>
                <a:ea typeface="NanumHuman"/>
              </a:rPr>
              <a:t>INDEX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762000" y="857250"/>
            <a:ext cx="5715000" cy="6667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3200" b="1" dirty="0">
                <a:solidFill>
                  <a:srgbClr val="373938"/>
                </a:solidFill>
                <a:latin typeface="NanumHuman"/>
                <a:ea typeface="NanumHuman"/>
              </a:rPr>
              <a:t>목차</a:t>
            </a:r>
          </a:p>
        </p:txBody>
      </p:sp>
      <p:sp>
        <p:nvSpPr>
          <p:cNvPr id="22" name="rect22"/>
          <p:cNvSpPr/>
          <p:nvPr/>
        </p:nvSpPr>
        <p:spPr>
          <a:xfrm>
            <a:off x="762000" y="1619250"/>
            <a:ext cx="10668000" cy="38100"/>
          </a:xfrm>
          <a:prstGeom prst="rect">
            <a:avLst/>
          </a:prstGeom>
          <a:solidFill>
            <a:srgbClr val="37393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b23"/>
          <p:cNvSpPr txBox="1"/>
          <p:nvPr/>
        </p:nvSpPr>
        <p:spPr>
          <a:xfrm>
            <a:off x="762000" y="2000250"/>
            <a:ext cx="10668000" cy="5334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400" b="1" dirty="0">
                <a:solidFill>
                  <a:srgbClr val="F05519"/>
                </a:solidFill>
                <a:latin typeface="Poppins"/>
                <a:ea typeface="NanumHuman"/>
              </a:rPr>
              <a:t>01   </a:t>
            </a:r>
            <a:r>
              <a:rPr lang="ko-KR" altLang="en-US" sz="1600" b="1" dirty="0">
                <a:solidFill>
                  <a:srgbClr val="373938"/>
                </a:solidFill>
                <a:latin typeface="NanumHuman"/>
                <a:ea typeface="NanumHuman"/>
              </a:rPr>
              <a:t>제안 배경 및 목적</a:t>
            </a:r>
            <a:r>
              <a:rPr lang="ko-KR" altLang="en-US" sz="1100" b="0" dirty="0">
                <a:solidFill>
                  <a:srgbClr val="878888"/>
                </a:solidFill>
                <a:latin typeface="Poppins"/>
                <a:ea typeface="NanumHuman"/>
              </a:rPr>
              <a:t>    BACKGROUND &amp; PURPOSE</a:t>
            </a:r>
          </a:p>
        </p:txBody>
      </p:sp>
      <p:sp>
        <p:nvSpPr>
          <p:cNvPr id="24" name="tb24"/>
          <p:cNvSpPr txBox="1"/>
          <p:nvPr/>
        </p:nvSpPr>
        <p:spPr>
          <a:xfrm>
            <a:off x="762000" y="2571750"/>
            <a:ext cx="10668000" cy="5334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400" b="1" dirty="0">
                <a:solidFill>
                  <a:srgbClr val="F05519"/>
                </a:solidFill>
                <a:latin typeface="Poppins"/>
                <a:ea typeface="NanumHuman"/>
              </a:rPr>
              <a:t>02   </a:t>
            </a:r>
            <a:r>
              <a:rPr lang="ko-KR" altLang="en-US" sz="1600" b="1" dirty="0">
                <a:solidFill>
                  <a:srgbClr val="373938"/>
                </a:solidFill>
                <a:latin typeface="NanumHuman"/>
                <a:ea typeface="NanumHuman"/>
              </a:rPr>
              <a:t>추진 전략 및 방법론</a:t>
            </a:r>
            <a:r>
              <a:rPr lang="ko-KR" altLang="en-US" sz="1100" b="0" dirty="0">
                <a:solidFill>
                  <a:srgbClr val="878888"/>
                </a:solidFill>
                <a:latin typeface="Poppins"/>
                <a:ea typeface="NanumHuman"/>
              </a:rPr>
              <a:t>    STRATEGY &amp; METHOD</a:t>
            </a:r>
          </a:p>
        </p:txBody>
      </p:sp>
      <p:sp>
        <p:nvSpPr>
          <p:cNvPr id="25" name="tb25"/>
          <p:cNvSpPr txBox="1"/>
          <p:nvPr/>
        </p:nvSpPr>
        <p:spPr>
          <a:xfrm>
            <a:off x="762000" y="3143250"/>
            <a:ext cx="10668000" cy="5334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400" b="1" dirty="0">
                <a:solidFill>
                  <a:srgbClr val="F05519"/>
                </a:solidFill>
                <a:latin typeface="Poppins"/>
                <a:ea typeface="NanumHuman"/>
              </a:rPr>
              <a:t>03   </a:t>
            </a:r>
            <a:r>
              <a:rPr lang="ko-KR" altLang="en-US" sz="1600" b="1" dirty="0">
                <a:solidFill>
                  <a:srgbClr val="373938"/>
                </a:solidFill>
                <a:latin typeface="NanumHuman"/>
                <a:ea typeface="NanumHuman"/>
              </a:rPr>
              <a:t>교육 커리큘럼</a:t>
            </a:r>
            <a:r>
              <a:rPr lang="ko-KR" altLang="en-US" sz="1100" b="0" dirty="0">
                <a:solidFill>
                  <a:srgbClr val="878888"/>
                </a:solidFill>
                <a:latin typeface="Poppins"/>
                <a:ea typeface="NanumHuman"/>
              </a:rPr>
              <a:t>    CURRICULUM</a:t>
            </a:r>
          </a:p>
        </p:txBody>
      </p:sp>
      <p:sp>
        <p:nvSpPr>
          <p:cNvPr id="26" name="tb26"/>
          <p:cNvSpPr txBox="1"/>
          <p:nvPr/>
        </p:nvSpPr>
        <p:spPr>
          <a:xfrm>
            <a:off x="762000" y="3714750"/>
            <a:ext cx="10668000" cy="5334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400" b="1" dirty="0">
                <a:solidFill>
                  <a:srgbClr val="F05519"/>
                </a:solidFill>
                <a:latin typeface="Poppins"/>
                <a:ea typeface="NanumHuman"/>
              </a:rPr>
              <a:t>04   </a:t>
            </a:r>
            <a:r>
              <a:rPr lang="ko-KR" altLang="en-US" sz="1600" b="1" dirty="0">
                <a:solidFill>
                  <a:srgbClr val="373938"/>
                </a:solidFill>
                <a:latin typeface="NanumHuman"/>
                <a:ea typeface="NanumHuman"/>
              </a:rPr>
              <a:t>운영 체계 및 코치진</a:t>
            </a:r>
            <a:r>
              <a:rPr lang="ko-KR" altLang="en-US" sz="1100" b="0" dirty="0">
                <a:solidFill>
                  <a:srgbClr val="878888"/>
                </a:solidFill>
                <a:latin typeface="Poppins"/>
                <a:ea typeface="NanumHuman"/>
              </a:rPr>
              <a:t>    OPERATION &amp; COACHES</a:t>
            </a:r>
          </a:p>
        </p:txBody>
      </p:sp>
      <p:sp>
        <p:nvSpPr>
          <p:cNvPr id="27" name="tb27"/>
          <p:cNvSpPr txBox="1"/>
          <p:nvPr/>
        </p:nvSpPr>
        <p:spPr>
          <a:xfrm>
            <a:off x="762000" y="4286250"/>
            <a:ext cx="10668000" cy="5334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400" b="1" dirty="0">
                <a:solidFill>
                  <a:srgbClr val="F05519"/>
                </a:solidFill>
                <a:latin typeface="Poppins"/>
                <a:ea typeface="NanumHuman"/>
              </a:rPr>
              <a:t>05   </a:t>
            </a:r>
            <a:r>
              <a:rPr lang="ko-KR" altLang="en-US" sz="1600" b="1" dirty="0">
                <a:solidFill>
                  <a:srgbClr val="373938"/>
                </a:solidFill>
                <a:latin typeface="NanumHuman"/>
                <a:ea typeface="NanumHuman"/>
              </a:rPr>
              <a:t>예산 및 경제성</a:t>
            </a:r>
            <a:r>
              <a:rPr lang="ko-KR" altLang="en-US" sz="1100" b="0" dirty="0">
                <a:solidFill>
                  <a:srgbClr val="878888"/>
                </a:solidFill>
                <a:latin typeface="Poppins"/>
                <a:ea typeface="NanumHuman"/>
              </a:rPr>
              <a:t>    BUDGET &amp; FEASIBILITY</a:t>
            </a:r>
          </a:p>
        </p:txBody>
      </p:sp>
      <p:sp>
        <p:nvSpPr>
          <p:cNvPr id="28" name="tb28"/>
          <p:cNvSpPr txBox="1"/>
          <p:nvPr/>
        </p:nvSpPr>
        <p:spPr>
          <a:xfrm>
            <a:off x="762000" y="4857750"/>
            <a:ext cx="10668000" cy="5334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400" b="1" dirty="0">
                <a:solidFill>
                  <a:srgbClr val="F05519"/>
                </a:solidFill>
                <a:latin typeface="Poppins"/>
                <a:ea typeface="NanumHuman"/>
              </a:rPr>
              <a:t>06   </a:t>
            </a:r>
            <a:r>
              <a:rPr lang="ko-KR" altLang="en-US" sz="1600" b="1" dirty="0">
                <a:solidFill>
                  <a:srgbClr val="373938"/>
                </a:solidFill>
                <a:latin typeface="NanumHuman"/>
                <a:ea typeface="NanumHuman"/>
              </a:rPr>
              <a:t>기대 성과 및 임팩트</a:t>
            </a:r>
            <a:r>
              <a:rPr lang="ko-KR" altLang="en-US" sz="1100" b="0" dirty="0">
                <a:solidFill>
                  <a:srgbClr val="878888"/>
                </a:solidFill>
                <a:latin typeface="Poppins"/>
                <a:ea typeface="NanumHuman"/>
              </a:rPr>
              <a:t>    IMPACT</a:t>
            </a:r>
          </a:p>
        </p:txBody>
      </p:sp>
      <p:sp>
        <p:nvSpPr>
          <p:cNvPr id="29" name="tb29"/>
          <p:cNvSpPr txBox="1"/>
          <p:nvPr/>
        </p:nvSpPr>
        <p:spPr>
          <a:xfrm>
            <a:off x="762000" y="5429250"/>
            <a:ext cx="10668000" cy="5334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400" b="1" dirty="0">
                <a:solidFill>
                  <a:srgbClr val="F05519"/>
                </a:solidFill>
                <a:latin typeface="Poppins"/>
                <a:ea typeface="NanumHuman"/>
              </a:rPr>
              <a:t>07   </a:t>
            </a:r>
            <a:r>
              <a:rPr lang="ko-KR" altLang="en-US" sz="1600" b="1" dirty="0">
                <a:solidFill>
                  <a:srgbClr val="373938"/>
                </a:solidFill>
                <a:latin typeface="NanumHuman"/>
                <a:ea typeface="NanumHuman"/>
              </a:rPr>
              <a:t>수행 역량 및 실적</a:t>
            </a:r>
            <a:r>
              <a:rPr lang="ko-KR" altLang="en-US" sz="1100" b="0" dirty="0">
                <a:solidFill>
                  <a:srgbClr val="878888"/>
                </a:solidFill>
                <a:latin typeface="Poppins"/>
                <a:ea typeface="NanumHuman"/>
              </a:rPr>
              <a:t>    TRACK RECORD</a:t>
            </a:r>
          </a:p>
        </p:txBody>
      </p:sp>
      <p:sp>
        <p:nvSpPr>
          <p:cNvPr id="30" name="rect30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b31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878888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32" name="tb32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878888"/>
                </a:solidFill>
                <a:latin typeface="Poppins"/>
                <a:ea typeface="NanumHum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b30"/>
          <p:cNvSpPr txBox="1"/>
          <p:nvPr/>
        </p:nvSpPr>
        <p:spPr>
          <a:xfrm>
            <a:off x="762000" y="2286000"/>
            <a:ext cx="3810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400" b="1" dirty="0">
                <a:solidFill>
                  <a:srgbClr val="F05519"/>
                </a:solidFill>
                <a:latin typeface="Poppins"/>
                <a:ea typeface="NanumHuman"/>
              </a:rPr>
              <a:t>01</a:t>
            </a:r>
          </a:p>
        </p:txBody>
      </p:sp>
      <p:sp>
        <p:nvSpPr>
          <p:cNvPr id="31" name="tb31"/>
          <p:cNvSpPr txBox="1"/>
          <p:nvPr/>
        </p:nvSpPr>
        <p:spPr>
          <a:xfrm>
            <a:off x="762000" y="2762250"/>
            <a:ext cx="9525000" cy="8572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FFFFFF"/>
                </a:solidFill>
                <a:latin typeface="Poppins"/>
                <a:ea typeface="NanumHuman"/>
              </a:rPr>
              <a:t>BACKGROUND &amp; PURPOSE</a:t>
            </a:r>
          </a:p>
        </p:txBody>
      </p:sp>
      <p:sp>
        <p:nvSpPr>
          <p:cNvPr id="32" name="tb32"/>
          <p:cNvSpPr txBox="1"/>
          <p:nvPr/>
        </p:nvSpPr>
        <p:spPr>
          <a:xfrm>
            <a:off x="762000" y="3714750"/>
            <a:ext cx="9525000" cy="571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800" b="1" dirty="0">
                <a:solidFill>
                  <a:srgbClr val="FFFFFF"/>
                </a:solidFill>
                <a:latin typeface="NanumHuman"/>
                <a:ea typeface="NanumHuman"/>
              </a:rPr>
              <a:t>제안 배경 및 목적</a:t>
            </a:r>
          </a:p>
        </p:txBody>
      </p:sp>
      <p:sp>
        <p:nvSpPr>
          <p:cNvPr id="33" name="rect33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b34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FFFFFF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35" name="tb35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FFFFFF"/>
                </a:solidFill>
                <a:latin typeface="Poppins"/>
                <a:ea typeface="NanumHu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b40"/>
          <p:cNvSpPr txBox="1"/>
          <p:nvPr/>
        </p:nvSpPr>
        <p:spPr>
          <a:xfrm>
            <a:off x="762000" y="476250"/>
            <a:ext cx="9525000" cy="3238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05519"/>
                </a:solidFill>
                <a:latin typeface="Poppins"/>
                <a:ea typeface="NanumHuman"/>
              </a:rPr>
              <a:t>01 제안 배경 및 목적</a:t>
            </a:r>
          </a:p>
        </p:txBody>
      </p:sp>
      <p:sp>
        <p:nvSpPr>
          <p:cNvPr id="41" name="tb41"/>
          <p:cNvSpPr txBox="1"/>
          <p:nvPr/>
        </p:nvSpPr>
        <p:spPr>
          <a:xfrm>
            <a:off x="762000" y="819150"/>
            <a:ext cx="10668000" cy="10477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000" b="1" dirty="0">
                <a:solidFill>
                  <a:srgbClr val="373938"/>
                </a:solidFill>
                <a:latin typeface="NanumHuman"/>
                <a:ea typeface="NanumHuman"/>
              </a:rPr>
              <a:t>충남 청년 인구 유출을 막고, 30명의 청년 창업가를 지역에 정착시키는 실전형 창업 생태계를 조성합니다.</a:t>
            </a:r>
          </a:p>
        </p:txBody>
      </p:sp>
      <p:sp>
        <p:nvSpPr>
          <p:cNvPr id="42" name="tb42"/>
          <p:cNvSpPr txBox="1"/>
          <p:nvPr/>
        </p:nvSpPr>
        <p:spPr>
          <a:xfrm>
            <a:off x="762000" y="1866900"/>
            <a:ext cx="10668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200" b="0" dirty="0">
                <a:solidFill>
                  <a:srgbClr val="878888"/>
                </a:solidFill>
                <a:latin typeface="NanumHuman"/>
                <a:ea typeface="NanumHuman"/>
              </a:rPr>
              <a:t>단순한 교육을 넘어 실제 매출과 고용 창출로 이어지는 전주기적 액셀러레이팅을 제안합니다.</a:t>
            </a:r>
          </a:p>
        </p:txBody>
      </p:sp>
      <p:sp>
        <p:nvSpPr>
          <p:cNvPr id="43" name="rect43"/>
          <p:cNvSpPr/>
          <p:nvPr/>
        </p:nvSpPr>
        <p:spPr>
          <a:xfrm>
            <a:off x="762000" y="2286000"/>
            <a:ext cx="10668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44"/>
          <p:cNvSpPr/>
          <p:nvPr/>
        </p:nvSpPr>
        <p:spPr>
          <a:xfrm>
            <a:off x="762000" y="2476500"/>
            <a:ext cx="4572000" cy="1905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tb45"/>
          <p:cNvSpPr txBox="1"/>
          <p:nvPr/>
        </p:nvSpPr>
        <p:spPr>
          <a:xfrm>
            <a:off x="914400" y="2609850"/>
            <a:ext cx="4267200" cy="2667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878888"/>
                </a:solidFill>
                <a:latin typeface="Poppins"/>
                <a:ea typeface="NanumHuman"/>
              </a:rPr>
              <a:t>BEFORE</a:t>
            </a:r>
          </a:p>
        </p:txBody>
      </p:sp>
      <p:sp>
        <p:nvSpPr>
          <p:cNvPr id="46" name="tb46"/>
          <p:cNvSpPr txBox="1"/>
          <p:nvPr/>
        </p:nvSpPr>
        <p:spPr>
          <a:xfrm>
            <a:off x="914400" y="2914650"/>
            <a:ext cx="4267200" cy="1333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500" b="1" dirty="0">
                <a:solidFill>
                  <a:srgbClr val="373938"/>
                </a:solidFill>
                <a:latin typeface="NanumHuman"/>
                <a:ea typeface="NanumHuman"/>
              </a:rPr>
              <a:t>현재: 청년 유출 및 자립 한계</a:t>
            </a:r>
          </a:p>
          <a:p>
            <a:pPr algn="l"/>
            <a:r>
              <a:rPr lang="ko-KR" altLang="en-US" sz="1100" b="0" dirty="0">
                <a:solidFill>
                  <a:srgbClr val="4B4D4C"/>
                </a:solidFill>
                <a:latin typeface="NanumHuman"/>
                <a:ea typeface="NanumHuman"/>
              </a:rPr>
              <a:t>• 청년 인구의 지속적인 수도권 유출</a:t>
            </a:r>
          </a:p>
          <a:p>
            <a:pPr algn="l"/>
            <a:r>
              <a:rPr lang="ko-KR" altLang="en-US" sz="1100" b="0" dirty="0">
                <a:solidFill>
                  <a:srgbClr val="4B4D4C"/>
                </a:solidFill>
                <a:latin typeface="NanumHuman"/>
                <a:ea typeface="NanumHuman"/>
              </a:rPr>
              <a:t>• 단순 구상 단계에 머무는 아이디어</a:t>
            </a:r>
          </a:p>
          <a:p>
            <a:pPr algn="l"/>
            <a:r>
              <a:rPr lang="ko-KR" altLang="en-US" sz="1100" b="0" dirty="0">
                <a:solidFill>
                  <a:srgbClr val="4B4D4C"/>
                </a:solidFill>
                <a:latin typeface="NanumHuman"/>
                <a:ea typeface="NanumHuman"/>
              </a:rPr>
              <a:t>• 단발성 지원으로 인한 자립 한계</a:t>
            </a:r>
          </a:p>
        </p:txBody>
      </p:sp>
      <p:sp>
        <p:nvSpPr>
          <p:cNvPr id="47" name="tb47"/>
          <p:cNvSpPr txBox="1"/>
          <p:nvPr/>
        </p:nvSpPr>
        <p:spPr>
          <a:xfrm>
            <a:off x="5334000" y="3143250"/>
            <a:ext cx="762000" cy="5715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4000" b="1" dirty="0">
                <a:solidFill>
                  <a:srgbClr val="F05519"/>
                </a:solidFill>
                <a:latin typeface="Poppins"/>
                <a:ea typeface="NanumHuman"/>
              </a:rPr>
              <a:t>→</a:t>
            </a:r>
          </a:p>
        </p:txBody>
      </p:sp>
      <p:sp>
        <p:nvSpPr>
          <p:cNvPr id="48" name="rect48"/>
          <p:cNvSpPr/>
          <p:nvPr/>
        </p:nvSpPr>
        <p:spPr>
          <a:xfrm>
            <a:off x="6096000" y="2476500"/>
            <a:ext cx="4572000" cy="1905000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tb49"/>
          <p:cNvSpPr txBox="1"/>
          <p:nvPr/>
        </p:nvSpPr>
        <p:spPr>
          <a:xfrm>
            <a:off x="6248400" y="2609850"/>
            <a:ext cx="4267200" cy="2667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05519"/>
                </a:solidFill>
                <a:latin typeface="Poppins"/>
                <a:ea typeface="NanumHuman"/>
              </a:rPr>
              <a:t>AFTER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6248400" y="2914650"/>
            <a:ext cx="4267200" cy="1333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500" b="1" dirty="0">
                <a:solidFill>
                  <a:srgbClr val="373938"/>
                </a:solidFill>
                <a:latin typeface="NanumHuman"/>
                <a:ea typeface="NanumHuman"/>
              </a:rPr>
              <a:t>목표: 충남 정착형 창업 생태계 완성</a:t>
            </a:r>
          </a:p>
          <a:p>
            <a:pPr algn="l"/>
            <a:r>
              <a:rPr lang="ko-KR" altLang="en-US" sz="1100" b="0" dirty="0">
                <a:solidFill>
                  <a:srgbClr val="F05519"/>
                </a:solidFill>
                <a:latin typeface="NanumHuman"/>
                <a:ea typeface="NanumHuman"/>
              </a:rPr>
              <a:t>• 시장 검증된 비즈니스 모델(BM) 고도화</a:t>
            </a:r>
          </a:p>
          <a:p>
            <a:pPr algn="l"/>
            <a:r>
              <a:rPr lang="ko-KR" altLang="en-US" sz="1100" b="0" dirty="0">
                <a:solidFill>
                  <a:srgbClr val="F05519"/>
                </a:solidFill>
                <a:latin typeface="NanumHuman"/>
                <a:ea typeface="NanumHuman"/>
              </a:rPr>
              <a:t>• 실제 투자 유치 및 후속 지원 연계</a:t>
            </a:r>
          </a:p>
          <a:p>
            <a:pPr algn="l"/>
            <a:r>
              <a:rPr lang="ko-KR" altLang="en-US" sz="1100" b="0" dirty="0">
                <a:solidFill>
                  <a:srgbClr val="F05519"/>
                </a:solidFill>
                <a:latin typeface="NanumHuman"/>
                <a:ea typeface="NanumHuman"/>
              </a:rPr>
              <a:t>• 지역 내 핵심 기업으로의 성장 발판 마련</a:t>
            </a:r>
          </a:p>
        </p:txBody>
      </p:sp>
      <p:sp>
        <p:nvSpPr>
          <p:cNvPr id="51" name="rect51"/>
          <p:cNvSpPr/>
          <p:nvPr/>
        </p:nvSpPr>
        <p:spPr>
          <a:xfrm>
            <a:off x="762000" y="4533900"/>
            <a:ext cx="10668000" cy="762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tb52"/>
          <p:cNvSpPr txBox="1"/>
          <p:nvPr/>
        </p:nvSpPr>
        <p:spPr>
          <a:xfrm>
            <a:off x="904875" y="4591050"/>
            <a:ext cx="1905000" cy="2286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F05519"/>
                </a:solidFill>
                <a:latin typeface="NanumHuman"/>
                <a:ea typeface="NanumHuman"/>
              </a:rPr>
              <a:t>근거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904875" y="4800600"/>
            <a:ext cx="10382250" cy="457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실전 창업 교육 및 보육 운영 연수 10년 노하우 적용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(언더독스 내부 실적)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누적 육성 창업가 20,211명 배출의 검증된 시스템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(언더독스 내부 실적)</a:t>
            </a:r>
          </a:p>
        </p:txBody>
      </p:sp>
      <p:sp>
        <p:nvSpPr>
          <p:cNvPr id="54" name="rect54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tb55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878888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56" name="tb56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878888"/>
                </a:solidFill>
                <a:latin typeface="Poppins"/>
                <a:ea typeface="NanumHu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b40"/>
          <p:cNvSpPr txBox="1"/>
          <p:nvPr/>
        </p:nvSpPr>
        <p:spPr>
          <a:xfrm>
            <a:off x="762000" y="476250"/>
            <a:ext cx="9525000" cy="3238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05519"/>
                </a:solidFill>
                <a:latin typeface="Poppins"/>
                <a:ea typeface="NanumHuman"/>
              </a:rPr>
              <a:t>01 제안 배경 및 목적</a:t>
            </a:r>
          </a:p>
        </p:txBody>
      </p:sp>
      <p:sp>
        <p:nvSpPr>
          <p:cNvPr id="41" name="tb41"/>
          <p:cNvSpPr txBox="1"/>
          <p:nvPr/>
        </p:nvSpPr>
        <p:spPr>
          <a:xfrm>
            <a:off x="762000" y="819150"/>
            <a:ext cx="10668000" cy="10477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000" b="1" dirty="0">
                <a:solidFill>
                  <a:srgbClr val="373938"/>
                </a:solidFill>
                <a:latin typeface="NanumHuman"/>
                <a:ea typeface="NanumHuman"/>
              </a:rPr>
              <a:t>8개월간의 밀착 보육과 3대 핵심 추진 전략을 통해 참여 기업 30개사의 성공적인 투자 유치를 이끌어냅니다.</a:t>
            </a:r>
          </a:p>
        </p:txBody>
      </p:sp>
      <p:sp>
        <p:nvSpPr>
          <p:cNvPr id="42" name="tb42"/>
          <p:cNvSpPr txBox="1"/>
          <p:nvPr/>
        </p:nvSpPr>
        <p:spPr>
          <a:xfrm>
            <a:off x="762000" y="1866900"/>
            <a:ext cx="10668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200" b="0" dirty="0">
                <a:solidFill>
                  <a:srgbClr val="878888"/>
                </a:solidFill>
                <a:latin typeface="NanumHuman"/>
                <a:ea typeface="NanumHuman"/>
              </a:rPr>
              <a:t>예비/초기 창업가의 역량 격차를 해소하고 실질적인 사업화 산출물을 100% 도출합니다.</a:t>
            </a:r>
          </a:p>
        </p:txBody>
      </p:sp>
      <p:sp>
        <p:nvSpPr>
          <p:cNvPr id="43" name="rect43"/>
          <p:cNvSpPr/>
          <p:nvPr/>
        </p:nvSpPr>
        <p:spPr>
          <a:xfrm>
            <a:off x="762000" y="2286000"/>
            <a:ext cx="10668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44"/>
          <p:cNvSpPr/>
          <p:nvPr/>
        </p:nvSpPr>
        <p:spPr>
          <a:xfrm>
            <a:off x="762000" y="2476500"/>
            <a:ext cx="1714500" cy="495300"/>
          </a:xfrm>
          <a:prstGeom prst="rect">
            <a:avLst/>
          </a:prstGeom>
          <a:solidFill>
            <a:srgbClr val="373938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tb45"/>
          <p:cNvSpPr txBox="1"/>
          <p:nvPr/>
        </p:nvSpPr>
        <p:spPr>
          <a:xfrm>
            <a:off x="857250" y="2552700"/>
            <a:ext cx="1524000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200" b="1" dirty="0">
                <a:solidFill>
                  <a:srgbClr val="FFFFFF"/>
                </a:solidFill>
                <a:latin typeface="NanumHuman"/>
                <a:ea typeface="NanumHuman"/>
              </a:rPr>
              <a:t>전략 3. 성과 중심 사후 관리</a:t>
            </a:r>
          </a:p>
        </p:txBody>
      </p:sp>
      <p:sp>
        <p:nvSpPr>
          <p:cNvPr id="46" name="rect46"/>
          <p:cNvSpPr/>
          <p:nvPr/>
        </p:nvSpPr>
        <p:spPr>
          <a:xfrm>
            <a:off x="2552700" y="2476500"/>
            <a:ext cx="4448175" cy="495300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tb47"/>
          <p:cNvSpPr txBox="1"/>
          <p:nvPr/>
        </p:nvSpPr>
        <p:spPr>
          <a:xfrm>
            <a:off x="2609850" y="2552700"/>
            <a:ext cx="4333875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데모데이 투자 연계</a:t>
            </a:r>
          </a:p>
        </p:txBody>
      </p:sp>
      <p:sp>
        <p:nvSpPr>
          <p:cNvPr id="48" name="rect48"/>
          <p:cNvSpPr/>
          <p:nvPr/>
        </p:nvSpPr>
        <p:spPr>
          <a:xfrm>
            <a:off x="7058025" y="2476500"/>
            <a:ext cx="4448175" cy="495300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tb49"/>
          <p:cNvSpPr txBox="1"/>
          <p:nvPr/>
        </p:nvSpPr>
        <p:spPr>
          <a:xfrm>
            <a:off x="7115175" y="2552700"/>
            <a:ext cx="4333875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충남 창업 인프라 후속 협력</a:t>
            </a:r>
          </a:p>
        </p:txBody>
      </p:sp>
      <p:sp>
        <p:nvSpPr>
          <p:cNvPr id="50" name="rect50"/>
          <p:cNvSpPr/>
          <p:nvPr/>
        </p:nvSpPr>
        <p:spPr>
          <a:xfrm>
            <a:off x="762000" y="3028950"/>
            <a:ext cx="1714500" cy="495300"/>
          </a:xfrm>
          <a:prstGeom prst="rect">
            <a:avLst/>
          </a:prstGeom>
          <a:solidFill>
            <a:srgbClr val="37393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b51"/>
          <p:cNvSpPr txBox="1"/>
          <p:nvPr/>
        </p:nvSpPr>
        <p:spPr>
          <a:xfrm>
            <a:off x="857250" y="3105150"/>
            <a:ext cx="1524000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200" b="1" dirty="0">
                <a:solidFill>
                  <a:srgbClr val="FFFFFF"/>
                </a:solidFill>
                <a:latin typeface="NanumHuman"/>
                <a:ea typeface="NanumHuman"/>
              </a:rPr>
              <a:t>전략 2. 현업 밀착형 전문 멘토링</a:t>
            </a:r>
          </a:p>
        </p:txBody>
      </p:sp>
      <p:sp>
        <p:nvSpPr>
          <p:cNvPr id="52" name="rect52"/>
          <p:cNvSpPr/>
          <p:nvPr/>
        </p:nvSpPr>
        <p:spPr>
          <a:xfrm>
            <a:off x="2552700" y="3028950"/>
            <a:ext cx="4448175" cy="4953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tb53"/>
          <p:cNvSpPr txBox="1"/>
          <p:nvPr/>
        </p:nvSpPr>
        <p:spPr>
          <a:xfrm>
            <a:off x="2609850" y="3105150"/>
            <a:ext cx="4333875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시장 검증 전문가 그룹 매칭</a:t>
            </a:r>
          </a:p>
        </p:txBody>
      </p:sp>
      <p:sp>
        <p:nvSpPr>
          <p:cNvPr id="54" name="rect54"/>
          <p:cNvSpPr/>
          <p:nvPr/>
        </p:nvSpPr>
        <p:spPr>
          <a:xfrm>
            <a:off x="7058025" y="3028950"/>
            <a:ext cx="4448175" cy="4953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tb55"/>
          <p:cNvSpPr txBox="1"/>
          <p:nvPr/>
        </p:nvSpPr>
        <p:spPr>
          <a:xfrm>
            <a:off x="7115175" y="3105150"/>
            <a:ext cx="4333875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사업계획서 및 IR Deck 도출</a:t>
            </a:r>
          </a:p>
        </p:txBody>
      </p:sp>
      <p:sp>
        <p:nvSpPr>
          <p:cNvPr id="56" name="rect56"/>
          <p:cNvSpPr/>
          <p:nvPr/>
        </p:nvSpPr>
        <p:spPr>
          <a:xfrm>
            <a:off x="762000" y="3581400"/>
            <a:ext cx="1714500" cy="495300"/>
          </a:xfrm>
          <a:prstGeom prst="rect">
            <a:avLst/>
          </a:prstGeom>
          <a:solidFill>
            <a:srgbClr val="373938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tb57"/>
          <p:cNvSpPr txBox="1"/>
          <p:nvPr/>
        </p:nvSpPr>
        <p:spPr>
          <a:xfrm>
            <a:off x="857250" y="3657600"/>
            <a:ext cx="1524000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200" b="1" dirty="0">
                <a:solidFill>
                  <a:srgbClr val="FFFFFF"/>
                </a:solidFill>
                <a:latin typeface="NanumHuman"/>
                <a:ea typeface="NanumHuman"/>
              </a:rPr>
              <a:t>전략 1. 사업 이해도 기반 맞춤형 전략</a:t>
            </a:r>
          </a:p>
        </p:txBody>
      </p:sp>
      <p:sp>
        <p:nvSpPr>
          <p:cNvPr id="58" name="rect58"/>
          <p:cNvSpPr/>
          <p:nvPr/>
        </p:nvSpPr>
        <p:spPr>
          <a:xfrm>
            <a:off x="2552700" y="3581400"/>
            <a:ext cx="4448175" cy="4953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tb59"/>
          <p:cNvSpPr txBox="1"/>
          <p:nvPr/>
        </p:nvSpPr>
        <p:spPr>
          <a:xfrm>
            <a:off x="2609850" y="3657600"/>
            <a:ext cx="4333875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역량 격차 진단</a:t>
            </a:r>
          </a:p>
        </p:txBody>
      </p:sp>
      <p:sp>
        <p:nvSpPr>
          <p:cNvPr id="60" name="rect60"/>
          <p:cNvSpPr/>
          <p:nvPr/>
        </p:nvSpPr>
        <p:spPr>
          <a:xfrm>
            <a:off x="7058025" y="3581400"/>
            <a:ext cx="4448175" cy="4953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b61"/>
          <p:cNvSpPr txBox="1"/>
          <p:nvPr/>
        </p:nvSpPr>
        <p:spPr>
          <a:xfrm>
            <a:off x="7115175" y="3657600"/>
            <a:ext cx="4333875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단계별 맞춤 육성 트랙 가동</a:t>
            </a:r>
          </a:p>
        </p:txBody>
      </p:sp>
      <p:sp>
        <p:nvSpPr>
          <p:cNvPr id="62" name="rect62"/>
          <p:cNvSpPr/>
          <p:nvPr/>
        </p:nvSpPr>
        <p:spPr>
          <a:xfrm>
            <a:off x="762000" y="4229100"/>
            <a:ext cx="10668000" cy="762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tb63"/>
          <p:cNvSpPr txBox="1"/>
          <p:nvPr/>
        </p:nvSpPr>
        <p:spPr>
          <a:xfrm>
            <a:off x="904875" y="4286250"/>
            <a:ext cx="1905000" cy="2286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F05519"/>
                </a:solidFill>
                <a:latin typeface="NanumHuman"/>
                <a:ea typeface="NanumHuman"/>
              </a:rPr>
              <a:t>근거</a:t>
            </a:r>
          </a:p>
        </p:txBody>
      </p:sp>
      <p:sp>
        <p:nvSpPr>
          <p:cNvPr id="64" name="tb64"/>
          <p:cNvSpPr txBox="1"/>
          <p:nvPr/>
        </p:nvSpPr>
        <p:spPr>
          <a:xfrm>
            <a:off x="904875" y="4495800"/>
            <a:ext cx="10382250" cy="457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시장 검증 경험이 풍부한 전문 코치 풀 800명 보유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(언더독스 내부 실적)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전국 30개 창업 거점 운영을 통한 지역 인프라 연계 역량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(언더독스 내부 실적)</a:t>
            </a:r>
          </a:p>
        </p:txBody>
      </p:sp>
      <p:sp>
        <p:nvSpPr>
          <p:cNvPr id="65" name="rect65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tb66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878888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67" name="tb67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878888"/>
                </a:solidFill>
                <a:latin typeface="Poppins"/>
                <a:ea typeface="NanumHuma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b30"/>
          <p:cNvSpPr txBox="1"/>
          <p:nvPr/>
        </p:nvSpPr>
        <p:spPr>
          <a:xfrm>
            <a:off x="762000" y="2286000"/>
            <a:ext cx="3810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400" b="1" dirty="0">
                <a:solidFill>
                  <a:srgbClr val="F05519"/>
                </a:solidFill>
                <a:latin typeface="Poppins"/>
                <a:ea typeface="NanumHuman"/>
              </a:rPr>
              <a:t>02</a:t>
            </a:r>
          </a:p>
        </p:txBody>
      </p:sp>
      <p:sp>
        <p:nvSpPr>
          <p:cNvPr id="31" name="tb31"/>
          <p:cNvSpPr txBox="1"/>
          <p:nvPr/>
        </p:nvSpPr>
        <p:spPr>
          <a:xfrm>
            <a:off x="762000" y="2762250"/>
            <a:ext cx="9525000" cy="8572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FFFFFF"/>
                </a:solidFill>
                <a:latin typeface="Poppins"/>
                <a:ea typeface="NanumHuman"/>
              </a:rPr>
              <a:t>STRATEGY &amp; METHOD</a:t>
            </a:r>
          </a:p>
        </p:txBody>
      </p:sp>
      <p:sp>
        <p:nvSpPr>
          <p:cNvPr id="32" name="tb32"/>
          <p:cNvSpPr txBox="1"/>
          <p:nvPr/>
        </p:nvSpPr>
        <p:spPr>
          <a:xfrm>
            <a:off x="762000" y="3714750"/>
            <a:ext cx="9525000" cy="571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800" b="1" dirty="0">
                <a:solidFill>
                  <a:srgbClr val="FFFFFF"/>
                </a:solidFill>
                <a:latin typeface="NanumHuman"/>
                <a:ea typeface="NanumHuman"/>
              </a:rPr>
              <a:t>추진 전략 및 방법론</a:t>
            </a:r>
          </a:p>
        </p:txBody>
      </p:sp>
      <p:sp>
        <p:nvSpPr>
          <p:cNvPr id="33" name="rect33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b34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FFFFFF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35" name="tb35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FFFFFF"/>
                </a:solidFill>
                <a:latin typeface="Poppins"/>
                <a:ea typeface="NanumHuma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b40"/>
          <p:cNvSpPr txBox="1"/>
          <p:nvPr/>
        </p:nvSpPr>
        <p:spPr>
          <a:xfrm>
            <a:off x="762000" y="476250"/>
            <a:ext cx="9525000" cy="3238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05519"/>
                </a:solidFill>
                <a:latin typeface="Poppins"/>
                <a:ea typeface="NanumHuman"/>
              </a:rPr>
              <a:t>02 추진 전략 및 방법론</a:t>
            </a:r>
          </a:p>
        </p:txBody>
      </p:sp>
      <p:sp>
        <p:nvSpPr>
          <p:cNvPr id="41" name="tb41"/>
          <p:cNvSpPr txBox="1"/>
          <p:nvPr/>
        </p:nvSpPr>
        <p:spPr>
          <a:xfrm>
            <a:off x="762000" y="819150"/>
            <a:ext cx="10668000" cy="10477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000" b="1" dirty="0">
                <a:solidFill>
                  <a:srgbClr val="373938"/>
                </a:solidFill>
                <a:latin typeface="NanumHuman"/>
                <a:ea typeface="NanumHuman"/>
              </a:rPr>
              <a:t>8개월간의 듀얼트랙 교육과 밀착 멘토링으로 아이디어 구체화부터 IR까지 전주기 육성합니다.</a:t>
            </a:r>
          </a:p>
        </p:txBody>
      </p:sp>
      <p:sp>
        <p:nvSpPr>
          <p:cNvPr id="42" name="tb42"/>
          <p:cNvSpPr txBox="1"/>
          <p:nvPr/>
        </p:nvSpPr>
        <p:spPr>
          <a:xfrm>
            <a:off x="762000" y="1866900"/>
            <a:ext cx="10668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200" b="0" dirty="0">
                <a:solidFill>
                  <a:srgbClr val="878888"/>
                </a:solidFill>
                <a:latin typeface="NanumHuman"/>
                <a:ea typeface="NanumHuman"/>
              </a:rPr>
              <a:t>'CN-Youth 8-Month BM-to-IR 밸류업 트랙'을 통해 충남 지역 창업 생태계를 활성화합니다.</a:t>
            </a:r>
          </a:p>
        </p:txBody>
      </p:sp>
      <p:sp>
        <p:nvSpPr>
          <p:cNvPr id="43" name="rect43"/>
          <p:cNvSpPr/>
          <p:nvPr/>
        </p:nvSpPr>
        <p:spPr>
          <a:xfrm>
            <a:off x="762000" y="2286000"/>
            <a:ext cx="10668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44"/>
          <p:cNvSpPr/>
          <p:nvPr/>
        </p:nvSpPr>
        <p:spPr>
          <a:xfrm>
            <a:off x="762000" y="2476500"/>
            <a:ext cx="1714500" cy="495300"/>
          </a:xfrm>
          <a:prstGeom prst="rect">
            <a:avLst/>
          </a:prstGeom>
          <a:solidFill>
            <a:srgbClr val="373938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tb45"/>
          <p:cNvSpPr txBox="1"/>
          <p:nvPr/>
        </p:nvSpPr>
        <p:spPr>
          <a:xfrm>
            <a:off x="857250" y="2552700"/>
            <a:ext cx="1524000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200" b="1" dirty="0">
                <a:solidFill>
                  <a:srgbClr val="FFFFFF"/>
                </a:solidFill>
                <a:latin typeface="NanumHuman"/>
                <a:ea typeface="NanumHuman"/>
              </a:rPr>
              <a:t>최종 목표</a:t>
            </a:r>
          </a:p>
        </p:txBody>
      </p:sp>
      <p:sp>
        <p:nvSpPr>
          <p:cNvPr id="46" name="rect46"/>
          <p:cNvSpPr/>
          <p:nvPr/>
        </p:nvSpPr>
        <p:spPr>
          <a:xfrm>
            <a:off x="2552700" y="2476500"/>
            <a:ext cx="2946400" cy="4953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tb47"/>
          <p:cNvSpPr txBox="1"/>
          <p:nvPr/>
        </p:nvSpPr>
        <p:spPr>
          <a:xfrm>
            <a:off x="2609850" y="2552700"/>
            <a:ext cx="2832100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충남 지역 정착</a:t>
            </a:r>
          </a:p>
        </p:txBody>
      </p:sp>
      <p:sp>
        <p:nvSpPr>
          <p:cNvPr id="48" name="rect48"/>
          <p:cNvSpPr/>
          <p:nvPr/>
        </p:nvSpPr>
        <p:spPr>
          <a:xfrm>
            <a:off x="5556250" y="2476500"/>
            <a:ext cx="2946400" cy="4953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tb49"/>
          <p:cNvSpPr txBox="1"/>
          <p:nvPr/>
        </p:nvSpPr>
        <p:spPr>
          <a:xfrm>
            <a:off x="5613400" y="2552700"/>
            <a:ext cx="2832100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창업 생태계 활성화</a:t>
            </a:r>
          </a:p>
        </p:txBody>
      </p:sp>
      <p:sp>
        <p:nvSpPr>
          <p:cNvPr id="50" name="rect50"/>
          <p:cNvSpPr/>
          <p:nvPr/>
        </p:nvSpPr>
        <p:spPr>
          <a:xfrm>
            <a:off x="8559800" y="2476500"/>
            <a:ext cx="2946400" cy="4953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b51"/>
          <p:cNvSpPr txBox="1"/>
          <p:nvPr/>
        </p:nvSpPr>
        <p:spPr>
          <a:xfrm>
            <a:off x="8616950" y="2552700"/>
            <a:ext cx="2832100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준비된 청년 기업가 배출</a:t>
            </a:r>
          </a:p>
        </p:txBody>
      </p:sp>
      <p:sp>
        <p:nvSpPr>
          <p:cNvPr id="52" name="rect52"/>
          <p:cNvSpPr/>
          <p:nvPr/>
        </p:nvSpPr>
        <p:spPr>
          <a:xfrm>
            <a:off x="762000" y="3028950"/>
            <a:ext cx="1714500" cy="495300"/>
          </a:xfrm>
          <a:prstGeom prst="rect">
            <a:avLst/>
          </a:prstGeom>
          <a:solidFill>
            <a:srgbClr val="373938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tb53"/>
          <p:cNvSpPr txBox="1"/>
          <p:nvPr/>
        </p:nvSpPr>
        <p:spPr>
          <a:xfrm>
            <a:off x="857250" y="3105150"/>
            <a:ext cx="1524000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200" b="1" dirty="0">
                <a:solidFill>
                  <a:srgbClr val="FFFFFF"/>
                </a:solidFill>
                <a:latin typeface="NanumHuman"/>
                <a:ea typeface="NanumHuman"/>
              </a:rPr>
              <a:t>핵심 과업</a:t>
            </a:r>
          </a:p>
        </p:txBody>
      </p:sp>
      <p:sp>
        <p:nvSpPr>
          <p:cNvPr id="54" name="rect54"/>
          <p:cNvSpPr/>
          <p:nvPr/>
        </p:nvSpPr>
        <p:spPr>
          <a:xfrm>
            <a:off x="2552700" y="3028950"/>
            <a:ext cx="2195513" cy="4953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tb55"/>
          <p:cNvSpPr txBox="1"/>
          <p:nvPr/>
        </p:nvSpPr>
        <p:spPr>
          <a:xfrm>
            <a:off x="2609850" y="3105150"/>
            <a:ext cx="2081213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Dual-Track 교육</a:t>
            </a:r>
          </a:p>
        </p:txBody>
      </p:sp>
      <p:sp>
        <p:nvSpPr>
          <p:cNvPr id="56" name="rect56"/>
          <p:cNvSpPr/>
          <p:nvPr/>
        </p:nvSpPr>
        <p:spPr>
          <a:xfrm>
            <a:off x="4805363" y="3028950"/>
            <a:ext cx="2195513" cy="4953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tb57"/>
          <p:cNvSpPr txBox="1"/>
          <p:nvPr/>
        </p:nvSpPr>
        <p:spPr>
          <a:xfrm>
            <a:off x="4862513" y="3105150"/>
            <a:ext cx="2081213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주간 밀착 멘토링</a:t>
            </a:r>
          </a:p>
        </p:txBody>
      </p:sp>
      <p:sp>
        <p:nvSpPr>
          <p:cNvPr id="58" name="rect58"/>
          <p:cNvSpPr/>
          <p:nvPr/>
        </p:nvSpPr>
        <p:spPr>
          <a:xfrm>
            <a:off x="7058025" y="3028950"/>
            <a:ext cx="2195513" cy="4953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tb59"/>
          <p:cNvSpPr txBox="1"/>
          <p:nvPr/>
        </p:nvSpPr>
        <p:spPr>
          <a:xfrm>
            <a:off x="7115175" y="3105150"/>
            <a:ext cx="2081213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IR 데모데이</a:t>
            </a:r>
          </a:p>
        </p:txBody>
      </p:sp>
      <p:sp>
        <p:nvSpPr>
          <p:cNvPr id="60" name="rect60"/>
          <p:cNvSpPr/>
          <p:nvPr/>
        </p:nvSpPr>
        <p:spPr>
          <a:xfrm>
            <a:off x="9310688" y="3028950"/>
            <a:ext cx="2195513" cy="4953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b61"/>
          <p:cNvSpPr txBox="1"/>
          <p:nvPr/>
        </p:nvSpPr>
        <p:spPr>
          <a:xfrm>
            <a:off x="9367838" y="3105150"/>
            <a:ext cx="2081213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후속 투자 연계</a:t>
            </a:r>
          </a:p>
        </p:txBody>
      </p:sp>
      <p:sp>
        <p:nvSpPr>
          <p:cNvPr id="62" name="rect62"/>
          <p:cNvSpPr/>
          <p:nvPr/>
        </p:nvSpPr>
        <p:spPr>
          <a:xfrm>
            <a:off x="762000" y="3581400"/>
            <a:ext cx="1714500" cy="495300"/>
          </a:xfrm>
          <a:prstGeom prst="rect">
            <a:avLst/>
          </a:prstGeom>
          <a:solidFill>
            <a:srgbClr val="373938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tb63"/>
          <p:cNvSpPr txBox="1"/>
          <p:nvPr/>
        </p:nvSpPr>
        <p:spPr>
          <a:xfrm>
            <a:off x="857250" y="3657600"/>
            <a:ext cx="1524000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200" b="1" dirty="0">
                <a:solidFill>
                  <a:srgbClr val="FFFFFF"/>
                </a:solidFill>
                <a:latin typeface="NanumHuman"/>
                <a:ea typeface="NanumHuman"/>
              </a:rPr>
              <a:t>차별화 전략</a:t>
            </a:r>
          </a:p>
        </p:txBody>
      </p:sp>
      <p:sp>
        <p:nvSpPr>
          <p:cNvPr id="64" name="rect64"/>
          <p:cNvSpPr/>
          <p:nvPr/>
        </p:nvSpPr>
        <p:spPr>
          <a:xfrm>
            <a:off x="2552700" y="3581400"/>
            <a:ext cx="2946400" cy="495300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tb65"/>
          <p:cNvSpPr txBox="1"/>
          <p:nvPr/>
        </p:nvSpPr>
        <p:spPr>
          <a:xfrm>
            <a:off x="2609850" y="3657600"/>
            <a:ext cx="2832100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실전형 실행 중심</a:t>
            </a:r>
          </a:p>
        </p:txBody>
      </p:sp>
      <p:sp>
        <p:nvSpPr>
          <p:cNvPr id="66" name="rect66"/>
          <p:cNvSpPr/>
          <p:nvPr/>
        </p:nvSpPr>
        <p:spPr>
          <a:xfrm>
            <a:off x="5556250" y="3581400"/>
            <a:ext cx="2946400" cy="495300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tb67"/>
          <p:cNvSpPr txBox="1"/>
          <p:nvPr/>
        </p:nvSpPr>
        <p:spPr>
          <a:xfrm>
            <a:off x="5613400" y="3657600"/>
            <a:ext cx="2832100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IR-Ready 시뮬레이션</a:t>
            </a:r>
          </a:p>
        </p:txBody>
      </p:sp>
      <p:sp>
        <p:nvSpPr>
          <p:cNvPr id="68" name="rect68"/>
          <p:cNvSpPr/>
          <p:nvPr/>
        </p:nvSpPr>
        <p:spPr>
          <a:xfrm>
            <a:off x="8559800" y="3581400"/>
            <a:ext cx="2946400" cy="495300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tb69"/>
          <p:cNvSpPr txBox="1"/>
          <p:nvPr/>
        </p:nvSpPr>
        <p:spPr>
          <a:xfrm>
            <a:off x="8616950" y="3657600"/>
            <a:ext cx="2832100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로컬 펀드 네트워크</a:t>
            </a:r>
          </a:p>
        </p:txBody>
      </p:sp>
      <p:sp>
        <p:nvSpPr>
          <p:cNvPr id="70" name="rect70"/>
          <p:cNvSpPr/>
          <p:nvPr/>
        </p:nvSpPr>
        <p:spPr>
          <a:xfrm>
            <a:off x="762000" y="4229100"/>
            <a:ext cx="10668000" cy="762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tb71"/>
          <p:cNvSpPr txBox="1"/>
          <p:nvPr/>
        </p:nvSpPr>
        <p:spPr>
          <a:xfrm>
            <a:off x="904875" y="4286250"/>
            <a:ext cx="1905000" cy="2286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F05519"/>
                </a:solidFill>
                <a:latin typeface="NanumHuman"/>
                <a:ea typeface="NanumHuman"/>
              </a:rPr>
              <a:t>근거</a:t>
            </a:r>
          </a:p>
        </p:txBody>
      </p:sp>
      <p:sp>
        <p:nvSpPr>
          <p:cNvPr id="72" name="tb72"/>
          <p:cNvSpPr txBox="1"/>
          <p:nvPr/>
        </p:nvSpPr>
        <p:spPr>
          <a:xfrm>
            <a:off x="904875" y="4495800"/>
            <a:ext cx="10382250" cy="457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10년간의 창업 교육 운영 노하우 적용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(언더독스 누적 실적)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누적 육성 창업가 20,211명 배출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(언더독스 누적 실적)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800명 규모의 전문 코치 풀 활용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(언더독스 누적 실적)</a:t>
            </a:r>
          </a:p>
        </p:txBody>
      </p:sp>
      <p:sp>
        <p:nvSpPr>
          <p:cNvPr id="73" name="rect73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tb74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878888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75" name="tb75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878888"/>
                </a:solidFill>
                <a:latin typeface="Poppins"/>
                <a:ea typeface="NanumHuma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b40"/>
          <p:cNvSpPr txBox="1"/>
          <p:nvPr/>
        </p:nvSpPr>
        <p:spPr>
          <a:xfrm>
            <a:off x="762000" y="476250"/>
            <a:ext cx="9525000" cy="3238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05519"/>
                </a:solidFill>
                <a:latin typeface="Poppins"/>
                <a:ea typeface="NanumHuman"/>
              </a:rPr>
              <a:t>02 추진 전략 및 방법론</a:t>
            </a:r>
          </a:p>
        </p:txBody>
      </p:sp>
      <p:sp>
        <p:nvSpPr>
          <p:cNvPr id="41" name="tb41"/>
          <p:cNvSpPr txBox="1"/>
          <p:nvPr/>
        </p:nvSpPr>
        <p:spPr>
          <a:xfrm>
            <a:off x="762000" y="819150"/>
            <a:ext cx="10668000" cy="10477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000" b="1" dirty="0">
                <a:solidFill>
                  <a:srgbClr val="373938"/>
                </a:solidFill>
                <a:latin typeface="NanumHuman"/>
                <a:ea typeface="NanumHuman"/>
              </a:rPr>
              <a:t>참여 기업 30개사 전원의 100% 사업계획서 도출과 IR Deck 완성을 확실히 달성합니다.</a:t>
            </a:r>
          </a:p>
        </p:txBody>
      </p:sp>
      <p:sp>
        <p:nvSpPr>
          <p:cNvPr id="42" name="tb42"/>
          <p:cNvSpPr txBox="1"/>
          <p:nvPr/>
        </p:nvSpPr>
        <p:spPr>
          <a:xfrm>
            <a:off x="762000" y="1866900"/>
            <a:ext cx="10668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200" b="0" dirty="0">
                <a:solidFill>
                  <a:srgbClr val="878888"/>
                </a:solidFill>
                <a:latin typeface="NanumHuman"/>
                <a:ea typeface="NanumHuman"/>
              </a:rPr>
              <a:t>예비/초기 창업가 맞춤형 멘토링과 투자 유치 중심의 데모데이로 실질적 성과 창출</a:t>
            </a:r>
          </a:p>
        </p:txBody>
      </p:sp>
      <p:sp>
        <p:nvSpPr>
          <p:cNvPr id="43" name="rect43"/>
          <p:cNvSpPr/>
          <p:nvPr/>
        </p:nvSpPr>
        <p:spPr>
          <a:xfrm>
            <a:off x="762000" y="2286000"/>
            <a:ext cx="10668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44"/>
          <p:cNvSpPr/>
          <p:nvPr/>
        </p:nvSpPr>
        <p:spPr>
          <a:xfrm>
            <a:off x="762000" y="2476500"/>
            <a:ext cx="1981200" cy="1143000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tb45"/>
          <p:cNvSpPr txBox="1"/>
          <p:nvPr/>
        </p:nvSpPr>
        <p:spPr>
          <a:xfrm>
            <a:off x="838200" y="2552700"/>
            <a:ext cx="1828800" cy="9906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200" b="1" dirty="0">
                <a:solidFill>
                  <a:srgbClr val="F05519"/>
                </a:solidFill>
                <a:latin typeface="Poppins"/>
                <a:ea typeface="NanumHuman"/>
              </a:rPr>
              <a:t>Step 1</a:t>
            </a:r>
          </a:p>
          <a:p>
            <a:pPr algn="l"/>
            <a:r>
              <a:rPr lang="ko-KR" altLang="en-US" sz="1300" b="1" dirty="0">
                <a:solidFill>
                  <a:srgbClr val="373938"/>
                </a:solidFill>
                <a:latin typeface="NanumHuman"/>
                <a:ea typeface="NanumHuman"/>
              </a:rPr>
              <a:t>역량 맞춤형 진단</a:t>
            </a:r>
          </a:p>
          <a:p>
            <a:pPr algn="l"/>
            <a:r>
              <a:rPr lang="ko-KR" altLang="en-US" sz="900" b="0" dirty="0">
                <a:solidFill>
                  <a:srgbClr val="4B4D4C"/>
                </a:solidFill>
                <a:latin typeface="NanumHuman"/>
                <a:ea typeface="NanumHuman"/>
              </a:rPr>
              <a:t>예비/초기 창업가 역량 격차 해소</a:t>
            </a:r>
          </a:p>
        </p:txBody>
      </p:sp>
      <p:sp>
        <p:nvSpPr>
          <p:cNvPr id="46" name="rect46"/>
          <p:cNvSpPr/>
          <p:nvPr/>
        </p:nvSpPr>
        <p:spPr>
          <a:xfrm>
            <a:off x="2933700" y="2476500"/>
            <a:ext cx="1981200" cy="1143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tb47"/>
          <p:cNvSpPr txBox="1"/>
          <p:nvPr/>
        </p:nvSpPr>
        <p:spPr>
          <a:xfrm>
            <a:off x="3009900" y="2552700"/>
            <a:ext cx="1828800" cy="9906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200" b="1" dirty="0">
                <a:solidFill>
                  <a:srgbClr val="F05519"/>
                </a:solidFill>
                <a:latin typeface="Poppins"/>
                <a:ea typeface="NanumHuman"/>
              </a:rPr>
              <a:t>Step 2</a:t>
            </a:r>
          </a:p>
          <a:p>
            <a:pPr algn="l"/>
            <a:r>
              <a:rPr lang="ko-KR" altLang="en-US" sz="1300" b="1" dirty="0">
                <a:solidFill>
                  <a:srgbClr val="373938"/>
                </a:solidFill>
                <a:latin typeface="NanumHuman"/>
                <a:ea typeface="NanumHuman"/>
              </a:rPr>
              <a:t>Dual-Track 교육</a:t>
            </a:r>
          </a:p>
          <a:p>
            <a:pPr algn="l"/>
            <a:r>
              <a:rPr lang="ko-KR" altLang="en-US" sz="900" b="0" dirty="0">
                <a:solidFill>
                  <a:srgbClr val="4B4D4C"/>
                </a:solidFill>
                <a:latin typeface="NanumHuman"/>
                <a:ea typeface="NanumHuman"/>
              </a:rPr>
              <a:t>BM/MVP 검증 및 시장 확장/IR 고도화</a:t>
            </a:r>
          </a:p>
        </p:txBody>
      </p:sp>
      <p:sp>
        <p:nvSpPr>
          <p:cNvPr id="48" name="rect48"/>
          <p:cNvSpPr/>
          <p:nvPr/>
        </p:nvSpPr>
        <p:spPr>
          <a:xfrm>
            <a:off x="5105400" y="2476500"/>
            <a:ext cx="1981200" cy="1143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tb49"/>
          <p:cNvSpPr txBox="1"/>
          <p:nvPr/>
        </p:nvSpPr>
        <p:spPr>
          <a:xfrm>
            <a:off x="5181600" y="2552700"/>
            <a:ext cx="1828800" cy="9906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200" b="1" dirty="0">
                <a:solidFill>
                  <a:srgbClr val="F05519"/>
                </a:solidFill>
                <a:latin typeface="Poppins"/>
                <a:ea typeface="NanumHuman"/>
              </a:rPr>
              <a:t>Step 3</a:t>
            </a:r>
          </a:p>
          <a:p>
            <a:pPr algn="l"/>
            <a:r>
              <a:rPr lang="ko-KR" altLang="en-US" sz="1300" b="1" dirty="0">
                <a:solidFill>
                  <a:srgbClr val="373938"/>
                </a:solidFill>
                <a:latin typeface="NanumHuman"/>
                <a:ea typeface="NanumHuman"/>
              </a:rPr>
              <a:t>주간 밀착 멘토링</a:t>
            </a:r>
          </a:p>
          <a:p>
            <a:pPr algn="l"/>
            <a:r>
              <a:rPr lang="ko-KR" altLang="en-US" sz="900" b="0" dirty="0">
                <a:solidFill>
                  <a:srgbClr val="4B4D4C"/>
                </a:solidFill>
                <a:latin typeface="NanumHuman"/>
                <a:ea typeface="NanumHuman"/>
              </a:rPr>
              <a:t>8개월간 이탈 방지 및 병목 현상 즉각 해결</a:t>
            </a:r>
          </a:p>
        </p:txBody>
      </p:sp>
      <p:sp>
        <p:nvSpPr>
          <p:cNvPr id="50" name="rect50"/>
          <p:cNvSpPr/>
          <p:nvPr/>
        </p:nvSpPr>
        <p:spPr>
          <a:xfrm>
            <a:off x="7277100" y="2476500"/>
            <a:ext cx="1981200" cy="1143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b51"/>
          <p:cNvSpPr txBox="1"/>
          <p:nvPr/>
        </p:nvSpPr>
        <p:spPr>
          <a:xfrm>
            <a:off x="7353300" y="2552700"/>
            <a:ext cx="1828800" cy="9906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200" b="1" dirty="0">
                <a:solidFill>
                  <a:srgbClr val="F05519"/>
                </a:solidFill>
                <a:latin typeface="Poppins"/>
                <a:ea typeface="NanumHuman"/>
              </a:rPr>
              <a:t>Step 4</a:t>
            </a:r>
          </a:p>
          <a:p>
            <a:pPr algn="l"/>
            <a:r>
              <a:rPr lang="ko-KR" altLang="en-US" sz="1300" b="1" dirty="0">
                <a:solidFill>
                  <a:srgbClr val="373938"/>
                </a:solidFill>
                <a:latin typeface="NanumHuman"/>
                <a:ea typeface="NanumHuman"/>
              </a:rPr>
              <a:t>IR-Ready 시뮬레이션</a:t>
            </a:r>
          </a:p>
          <a:p>
            <a:pPr algn="l"/>
            <a:r>
              <a:rPr lang="ko-KR" altLang="en-US" sz="900" b="0" dirty="0">
                <a:solidFill>
                  <a:srgbClr val="4B4D4C"/>
                </a:solidFill>
                <a:latin typeface="NanumHuman"/>
                <a:ea typeface="NanumHuman"/>
              </a:rPr>
              <a:t>투자자 관점 사업성 검증 및 사전 모의 피칭</a:t>
            </a:r>
          </a:p>
        </p:txBody>
      </p:sp>
      <p:sp>
        <p:nvSpPr>
          <p:cNvPr id="52" name="rect52"/>
          <p:cNvSpPr/>
          <p:nvPr/>
        </p:nvSpPr>
        <p:spPr>
          <a:xfrm>
            <a:off x="9448800" y="2476500"/>
            <a:ext cx="1981200" cy="1143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tb53"/>
          <p:cNvSpPr txBox="1"/>
          <p:nvPr/>
        </p:nvSpPr>
        <p:spPr>
          <a:xfrm>
            <a:off x="9525000" y="2552700"/>
            <a:ext cx="1828800" cy="9906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200" b="1" dirty="0">
                <a:solidFill>
                  <a:srgbClr val="F05519"/>
                </a:solidFill>
                <a:latin typeface="Poppins"/>
                <a:ea typeface="NanumHuman"/>
              </a:rPr>
              <a:t>Step 5</a:t>
            </a:r>
          </a:p>
          <a:p>
            <a:pPr algn="l"/>
            <a:r>
              <a:rPr lang="ko-KR" altLang="en-US" sz="1300" b="1" dirty="0">
                <a:solidFill>
                  <a:srgbClr val="373938"/>
                </a:solidFill>
                <a:latin typeface="NanumHuman"/>
                <a:ea typeface="NanumHuman"/>
              </a:rPr>
              <a:t>데모데이 및 후속 연계</a:t>
            </a:r>
          </a:p>
          <a:p>
            <a:pPr algn="l"/>
            <a:r>
              <a:rPr lang="ko-KR" altLang="en-US" sz="900" b="0" dirty="0">
                <a:solidFill>
                  <a:srgbClr val="4B4D4C"/>
                </a:solidFill>
                <a:latin typeface="NanumHuman"/>
                <a:ea typeface="NanumHuman"/>
              </a:rPr>
              <a:t>충남 창경 인프라 및 로컬 펀드 연계</a:t>
            </a:r>
          </a:p>
        </p:txBody>
      </p:sp>
      <p:sp>
        <p:nvSpPr>
          <p:cNvPr id="54" name="rect54"/>
          <p:cNvSpPr/>
          <p:nvPr/>
        </p:nvSpPr>
        <p:spPr>
          <a:xfrm>
            <a:off x="762000" y="3771900"/>
            <a:ext cx="10668000" cy="762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tb55"/>
          <p:cNvSpPr txBox="1"/>
          <p:nvPr/>
        </p:nvSpPr>
        <p:spPr>
          <a:xfrm>
            <a:off x="904875" y="3829050"/>
            <a:ext cx="1905000" cy="2286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F05519"/>
                </a:solidFill>
                <a:latin typeface="NanumHuman"/>
                <a:ea typeface="NanumHuman"/>
              </a:rPr>
              <a:t>근거</a:t>
            </a:r>
          </a:p>
        </p:txBody>
      </p:sp>
      <p:sp>
        <p:nvSpPr>
          <p:cNvPr id="56" name="tb56"/>
          <p:cNvSpPr txBox="1"/>
          <p:nvPr/>
        </p:nvSpPr>
        <p:spPr>
          <a:xfrm>
            <a:off x="904875" y="4038600"/>
            <a:ext cx="10382250" cy="457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참여 기업 30개사 전원 사업계획서 도출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(본 사업 목표)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전국 30개 거점 기반의 지역 특화 액셀러레이팅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(언더독스 누적 실적)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누적 수주 500억 원 규모의 안정적 사업 수행력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(언더독스 누적 실적)</a:t>
            </a:r>
          </a:p>
        </p:txBody>
      </p:sp>
      <p:sp>
        <p:nvSpPr>
          <p:cNvPr id="57" name="rect57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tb58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878888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59" name="tb59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878888"/>
                </a:solidFill>
                <a:latin typeface="Poppins"/>
                <a:ea typeface="NanumHu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b30"/>
          <p:cNvSpPr txBox="1"/>
          <p:nvPr/>
        </p:nvSpPr>
        <p:spPr>
          <a:xfrm>
            <a:off x="762000" y="2286000"/>
            <a:ext cx="3810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400" b="1" dirty="0">
                <a:solidFill>
                  <a:srgbClr val="F05519"/>
                </a:solidFill>
                <a:latin typeface="Poppins"/>
                <a:ea typeface="NanumHuman"/>
              </a:rPr>
              <a:t>03</a:t>
            </a:r>
          </a:p>
        </p:txBody>
      </p:sp>
      <p:sp>
        <p:nvSpPr>
          <p:cNvPr id="31" name="tb31"/>
          <p:cNvSpPr txBox="1"/>
          <p:nvPr/>
        </p:nvSpPr>
        <p:spPr>
          <a:xfrm>
            <a:off x="762000" y="2762250"/>
            <a:ext cx="9525000" cy="8572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FFFFFF"/>
                </a:solidFill>
                <a:latin typeface="Poppins"/>
                <a:ea typeface="NanumHuman"/>
              </a:rPr>
              <a:t>CURRICULUM</a:t>
            </a:r>
          </a:p>
        </p:txBody>
      </p:sp>
      <p:sp>
        <p:nvSpPr>
          <p:cNvPr id="32" name="tb32"/>
          <p:cNvSpPr txBox="1"/>
          <p:nvPr/>
        </p:nvSpPr>
        <p:spPr>
          <a:xfrm>
            <a:off x="762000" y="3714750"/>
            <a:ext cx="9525000" cy="571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800" b="1" dirty="0">
                <a:solidFill>
                  <a:srgbClr val="FFFFFF"/>
                </a:solidFill>
                <a:latin typeface="NanumHuman"/>
                <a:ea typeface="NanumHuman"/>
              </a:rPr>
              <a:t>교육 커리큘럼</a:t>
            </a:r>
          </a:p>
        </p:txBody>
      </p:sp>
      <p:sp>
        <p:nvSpPr>
          <p:cNvPr id="33" name="rect33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b34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FFFFFF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35" name="tb35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FFFFFF"/>
                </a:solidFill>
                <a:latin typeface="Poppins"/>
                <a:ea typeface="NanumHuma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b40"/>
          <p:cNvSpPr txBox="1"/>
          <p:nvPr/>
        </p:nvSpPr>
        <p:spPr>
          <a:xfrm>
            <a:off x="762000" y="476250"/>
            <a:ext cx="9525000" cy="3238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05519"/>
                </a:solidFill>
                <a:latin typeface="Poppins"/>
                <a:ea typeface="NanumHuman"/>
              </a:rPr>
              <a:t>03 교육 커리큘럼</a:t>
            </a:r>
          </a:p>
        </p:txBody>
      </p:sp>
      <p:sp>
        <p:nvSpPr>
          <p:cNvPr id="41" name="tb41"/>
          <p:cNvSpPr txBox="1"/>
          <p:nvPr/>
        </p:nvSpPr>
        <p:spPr>
          <a:xfrm>
            <a:off x="762000" y="819150"/>
            <a:ext cx="10668000" cy="10477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000" b="1" dirty="0">
                <a:solidFill>
                  <a:srgbClr val="373938"/>
                </a:solidFill>
                <a:latin typeface="NanumHuman"/>
                <a:ea typeface="NanumHuman"/>
              </a:rPr>
              <a:t>8개월간의 체계적인 5단계 프로세스로 아이디어 구체화부터 IR까지 전주기 육성합니다.</a:t>
            </a:r>
          </a:p>
        </p:txBody>
      </p:sp>
      <p:sp>
        <p:nvSpPr>
          <p:cNvPr id="42" name="tb42"/>
          <p:cNvSpPr txBox="1"/>
          <p:nvPr/>
        </p:nvSpPr>
        <p:spPr>
          <a:xfrm>
            <a:off x="762000" y="1866900"/>
            <a:ext cx="10668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200" b="0" dirty="0">
                <a:solidFill>
                  <a:srgbClr val="878888"/>
                </a:solidFill>
                <a:latin typeface="NanumHuman"/>
                <a:ea typeface="NanumHuman"/>
              </a:rPr>
              <a:t>예비 및 초기 창업가 30명을 위한 맞춤형 실전 창업 교육 및 밀착 멘토링 타임라인</a:t>
            </a:r>
          </a:p>
        </p:txBody>
      </p:sp>
      <p:sp>
        <p:nvSpPr>
          <p:cNvPr id="43" name="rect43"/>
          <p:cNvSpPr/>
          <p:nvPr/>
        </p:nvSpPr>
        <p:spPr>
          <a:xfrm>
            <a:off x="762000" y="2286000"/>
            <a:ext cx="10668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44"/>
          <p:cNvSpPr/>
          <p:nvPr/>
        </p:nvSpPr>
        <p:spPr>
          <a:xfrm>
            <a:off x="762000" y="2476500"/>
            <a:ext cx="1981200" cy="1143000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tb45"/>
          <p:cNvSpPr txBox="1"/>
          <p:nvPr/>
        </p:nvSpPr>
        <p:spPr>
          <a:xfrm>
            <a:off x="838200" y="2552700"/>
            <a:ext cx="1828800" cy="9906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200" b="1" dirty="0">
                <a:solidFill>
                  <a:srgbClr val="F05519"/>
                </a:solidFill>
                <a:latin typeface="Poppins"/>
                <a:ea typeface="NanumHuman"/>
              </a:rPr>
              <a:t>M1</a:t>
            </a:r>
          </a:p>
          <a:p>
            <a:pPr algn="l"/>
            <a:r>
              <a:rPr lang="ko-KR" altLang="en-US" sz="1300" b="1" dirty="0">
                <a:solidFill>
                  <a:srgbClr val="373938"/>
                </a:solidFill>
                <a:latin typeface="NanumHuman"/>
                <a:ea typeface="NanumHuman"/>
              </a:rPr>
              <a:t>준비·세팅</a:t>
            </a:r>
          </a:p>
          <a:p>
            <a:pPr algn="l"/>
            <a:r>
              <a:rPr lang="ko-KR" altLang="en-US" sz="900" b="0" dirty="0">
                <a:solidFill>
                  <a:srgbClr val="4B4D4C"/>
                </a:solidFill>
                <a:latin typeface="NanumHuman"/>
                <a:ea typeface="NanumHuman"/>
              </a:rPr>
              <a:t>교육 환경 및 코치진 풀 구축</a:t>
            </a:r>
          </a:p>
        </p:txBody>
      </p:sp>
      <p:sp>
        <p:nvSpPr>
          <p:cNvPr id="46" name="rect46"/>
          <p:cNvSpPr/>
          <p:nvPr/>
        </p:nvSpPr>
        <p:spPr>
          <a:xfrm>
            <a:off x="2933700" y="2476500"/>
            <a:ext cx="1981200" cy="1143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tb47"/>
          <p:cNvSpPr txBox="1"/>
          <p:nvPr/>
        </p:nvSpPr>
        <p:spPr>
          <a:xfrm>
            <a:off x="3009900" y="2552700"/>
            <a:ext cx="1828800" cy="9906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200" b="1" dirty="0">
                <a:solidFill>
                  <a:srgbClr val="F05519"/>
                </a:solidFill>
                <a:latin typeface="Poppins"/>
                <a:ea typeface="NanumHuman"/>
              </a:rPr>
              <a:t>M1~M2</a:t>
            </a:r>
          </a:p>
          <a:p>
            <a:pPr algn="l"/>
            <a:r>
              <a:rPr lang="ko-KR" altLang="en-US" sz="1300" b="1" dirty="0">
                <a:solidFill>
                  <a:srgbClr val="373938"/>
                </a:solidFill>
                <a:latin typeface="NanumHuman"/>
                <a:ea typeface="NanumHuman"/>
              </a:rPr>
              <a:t>모집·선발</a:t>
            </a:r>
          </a:p>
          <a:p>
            <a:pPr algn="l"/>
            <a:r>
              <a:rPr lang="ko-KR" altLang="en-US" sz="900" b="0" dirty="0">
                <a:solidFill>
                  <a:srgbClr val="4B4D4C"/>
                </a:solidFill>
                <a:latin typeface="NanumHuman"/>
                <a:ea typeface="NanumHuman"/>
              </a:rPr>
              <a:t>30명 선발 및 사전 역량 진단</a:t>
            </a:r>
          </a:p>
        </p:txBody>
      </p:sp>
      <p:sp>
        <p:nvSpPr>
          <p:cNvPr id="48" name="rect48"/>
          <p:cNvSpPr/>
          <p:nvPr/>
        </p:nvSpPr>
        <p:spPr>
          <a:xfrm>
            <a:off x="5105400" y="2476500"/>
            <a:ext cx="1981200" cy="1143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tb49"/>
          <p:cNvSpPr txBox="1"/>
          <p:nvPr/>
        </p:nvSpPr>
        <p:spPr>
          <a:xfrm>
            <a:off x="5181600" y="2552700"/>
            <a:ext cx="1828800" cy="9906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200" b="1" dirty="0">
                <a:solidFill>
                  <a:srgbClr val="F05519"/>
                </a:solidFill>
                <a:latin typeface="Poppins"/>
                <a:ea typeface="NanumHuman"/>
              </a:rPr>
              <a:t>M2~M7</a:t>
            </a:r>
          </a:p>
          <a:p>
            <a:pPr algn="l"/>
            <a:r>
              <a:rPr lang="ko-KR" altLang="en-US" sz="1300" b="1" dirty="0">
                <a:solidFill>
                  <a:srgbClr val="373938"/>
                </a:solidFill>
                <a:latin typeface="NanumHuman"/>
                <a:ea typeface="NanumHuman"/>
              </a:rPr>
              <a:t>주차별 교육</a:t>
            </a:r>
          </a:p>
          <a:p>
            <a:pPr algn="l"/>
            <a:r>
              <a:rPr lang="ko-KR" altLang="en-US" sz="900" b="0" dirty="0">
                <a:solidFill>
                  <a:srgbClr val="4B4D4C"/>
                </a:solidFill>
                <a:latin typeface="NanumHuman"/>
                <a:ea typeface="NanumHuman"/>
              </a:rPr>
              <a:t>BM 고도화 및 1:1 전담 멘토링</a:t>
            </a:r>
          </a:p>
        </p:txBody>
      </p:sp>
      <p:sp>
        <p:nvSpPr>
          <p:cNvPr id="50" name="rect50"/>
          <p:cNvSpPr/>
          <p:nvPr/>
        </p:nvSpPr>
        <p:spPr>
          <a:xfrm>
            <a:off x="7277100" y="2476500"/>
            <a:ext cx="1981200" cy="1143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b51"/>
          <p:cNvSpPr txBox="1"/>
          <p:nvPr/>
        </p:nvSpPr>
        <p:spPr>
          <a:xfrm>
            <a:off x="7353300" y="2552700"/>
            <a:ext cx="1828800" cy="9906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200" b="1" dirty="0">
                <a:solidFill>
                  <a:srgbClr val="F05519"/>
                </a:solidFill>
                <a:latin typeface="Poppins"/>
                <a:ea typeface="NanumHuman"/>
              </a:rPr>
              <a:t>M8</a:t>
            </a:r>
          </a:p>
          <a:p>
            <a:pPr algn="l"/>
            <a:r>
              <a:rPr lang="ko-KR" altLang="en-US" sz="1300" b="1" dirty="0">
                <a:solidFill>
                  <a:srgbClr val="373938"/>
                </a:solidFill>
                <a:latin typeface="NanumHuman"/>
                <a:ea typeface="NanumHuman"/>
              </a:rPr>
              <a:t>데모데이</a:t>
            </a:r>
          </a:p>
          <a:p>
            <a:pPr algn="l"/>
            <a:r>
              <a:rPr lang="ko-KR" altLang="en-US" sz="900" b="0" dirty="0">
                <a:solidFill>
                  <a:srgbClr val="4B4D4C"/>
                </a:solidFill>
                <a:latin typeface="NanumHuman"/>
                <a:ea typeface="NanumHuman"/>
              </a:rPr>
              <a:t>AC/VC 초청 피칭 및 1:1 밋업</a:t>
            </a:r>
          </a:p>
        </p:txBody>
      </p:sp>
      <p:sp>
        <p:nvSpPr>
          <p:cNvPr id="52" name="rect52"/>
          <p:cNvSpPr/>
          <p:nvPr/>
        </p:nvSpPr>
        <p:spPr>
          <a:xfrm>
            <a:off x="9448800" y="2476500"/>
            <a:ext cx="1981200" cy="1143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tb53"/>
          <p:cNvSpPr txBox="1"/>
          <p:nvPr/>
        </p:nvSpPr>
        <p:spPr>
          <a:xfrm>
            <a:off x="9525000" y="2552700"/>
            <a:ext cx="1828800" cy="9906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200" b="1" dirty="0">
                <a:solidFill>
                  <a:srgbClr val="F05519"/>
                </a:solidFill>
                <a:latin typeface="Poppins"/>
                <a:ea typeface="NanumHuman"/>
              </a:rPr>
              <a:t>M8</a:t>
            </a:r>
          </a:p>
          <a:p>
            <a:pPr algn="l"/>
            <a:r>
              <a:rPr lang="ko-KR" altLang="en-US" sz="1300" b="1" dirty="0">
                <a:solidFill>
                  <a:srgbClr val="373938"/>
                </a:solidFill>
                <a:latin typeface="NanumHuman"/>
                <a:ea typeface="NanumHuman"/>
              </a:rPr>
              <a:t>성과 결과보고</a:t>
            </a:r>
          </a:p>
          <a:p>
            <a:pPr algn="l"/>
            <a:r>
              <a:rPr lang="ko-KR" altLang="en-US" sz="900" b="0" dirty="0">
                <a:solidFill>
                  <a:srgbClr val="4B4D4C"/>
                </a:solidFill>
                <a:latin typeface="NanumHuman"/>
                <a:ea typeface="NanumHuman"/>
              </a:rPr>
              <a:t>지표 분석 및 후속 지원 연계</a:t>
            </a:r>
          </a:p>
        </p:txBody>
      </p:sp>
      <p:sp>
        <p:nvSpPr>
          <p:cNvPr id="54" name="rect54"/>
          <p:cNvSpPr/>
          <p:nvPr/>
        </p:nvSpPr>
        <p:spPr>
          <a:xfrm>
            <a:off x="762000" y="3771900"/>
            <a:ext cx="10668000" cy="762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tb55"/>
          <p:cNvSpPr txBox="1"/>
          <p:nvPr/>
        </p:nvSpPr>
        <p:spPr>
          <a:xfrm>
            <a:off x="904875" y="3829050"/>
            <a:ext cx="1905000" cy="2286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F05519"/>
                </a:solidFill>
                <a:latin typeface="NanumHuman"/>
                <a:ea typeface="NanumHuman"/>
              </a:rPr>
              <a:t>근거</a:t>
            </a:r>
          </a:p>
        </p:txBody>
      </p:sp>
      <p:sp>
        <p:nvSpPr>
          <p:cNvPr id="56" name="tb56"/>
          <p:cNvSpPr txBox="1"/>
          <p:nvPr/>
        </p:nvSpPr>
        <p:spPr>
          <a:xfrm>
            <a:off x="904875" y="4038600"/>
            <a:ext cx="10382250" cy="457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누적 육성 창업가 20,211명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(언더독스 누적 실적)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전담 코치 풀 800명 보유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(언더독스 누적 실적)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실전 창업 교육 운영 10년 노하우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(언더독스 누적 실적)</a:t>
            </a:r>
          </a:p>
        </p:txBody>
      </p:sp>
      <p:sp>
        <p:nvSpPr>
          <p:cNvPr id="57" name="rect57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tb58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878888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59" name="tb59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878888"/>
                </a:solidFill>
                <a:latin typeface="Poppins"/>
                <a:ea typeface="NanumHuma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b40"/>
          <p:cNvSpPr txBox="1"/>
          <p:nvPr/>
        </p:nvSpPr>
        <p:spPr>
          <a:xfrm>
            <a:off x="762000" y="476250"/>
            <a:ext cx="9525000" cy="3238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05519"/>
                </a:solidFill>
                <a:latin typeface="Poppins"/>
                <a:ea typeface="NanumHuman"/>
              </a:rPr>
              <a:t>03 교육 커리큘럼</a:t>
            </a:r>
          </a:p>
        </p:txBody>
      </p:sp>
      <p:sp>
        <p:nvSpPr>
          <p:cNvPr id="41" name="tb41"/>
          <p:cNvSpPr txBox="1"/>
          <p:nvPr/>
        </p:nvSpPr>
        <p:spPr>
          <a:xfrm>
            <a:off x="762000" y="819150"/>
            <a:ext cx="10668000" cy="10477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000" b="1" dirty="0">
                <a:solidFill>
                  <a:srgbClr val="373938"/>
                </a:solidFill>
                <a:latin typeface="NanumHuman"/>
                <a:ea typeface="NanumHuman"/>
              </a:rPr>
              <a:t>이론-실습-피드백 루프와 2회의 Action Week를 결합하여 창업가의 실행 전환을 강력하게 견인합니다.</a:t>
            </a:r>
          </a:p>
        </p:txBody>
      </p:sp>
      <p:sp>
        <p:nvSpPr>
          <p:cNvPr id="42" name="tb42"/>
          <p:cNvSpPr txBox="1"/>
          <p:nvPr/>
        </p:nvSpPr>
        <p:spPr>
          <a:xfrm>
            <a:off x="762000" y="1866900"/>
            <a:ext cx="10668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200" b="0" dirty="0">
                <a:solidFill>
                  <a:srgbClr val="878888"/>
                </a:solidFill>
                <a:latin typeface="NanumHuman"/>
                <a:ea typeface="NanumHuman"/>
              </a:rPr>
              <a:t>4주 단위 모듈로 세분화된 32주 커리큘럼 및 실전 중심 설계 장치</a:t>
            </a:r>
          </a:p>
        </p:txBody>
      </p:sp>
      <p:sp>
        <p:nvSpPr>
          <p:cNvPr id="43" name="rect43"/>
          <p:cNvSpPr/>
          <p:nvPr/>
        </p:nvSpPr>
        <p:spPr>
          <a:xfrm>
            <a:off x="762000" y="2286000"/>
            <a:ext cx="10668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44"/>
          <p:cNvSpPr/>
          <p:nvPr/>
        </p:nvSpPr>
        <p:spPr>
          <a:xfrm>
            <a:off x="2190750" y="2476500"/>
            <a:ext cx="1819275" cy="304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tb45"/>
          <p:cNvSpPr txBox="1"/>
          <p:nvPr/>
        </p:nvSpPr>
        <p:spPr>
          <a:xfrm>
            <a:off x="2190750" y="2533650"/>
            <a:ext cx="1819275" cy="2286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1" dirty="0">
                <a:solidFill>
                  <a:srgbClr val="4B4D4C"/>
                </a:solidFill>
                <a:latin typeface="NanumHuman"/>
                <a:ea typeface="NanumHuman"/>
              </a:rPr>
              <a:t>W1~W8</a:t>
            </a:r>
          </a:p>
        </p:txBody>
      </p:sp>
      <p:sp>
        <p:nvSpPr>
          <p:cNvPr id="46" name="rect46"/>
          <p:cNvSpPr/>
          <p:nvPr/>
        </p:nvSpPr>
        <p:spPr>
          <a:xfrm>
            <a:off x="4038600" y="2476500"/>
            <a:ext cx="1819275" cy="304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tb47"/>
          <p:cNvSpPr txBox="1"/>
          <p:nvPr/>
        </p:nvSpPr>
        <p:spPr>
          <a:xfrm>
            <a:off x="4038600" y="2533650"/>
            <a:ext cx="1819275" cy="2286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1" dirty="0">
                <a:solidFill>
                  <a:srgbClr val="4B4D4C"/>
                </a:solidFill>
                <a:latin typeface="NanumHuman"/>
                <a:ea typeface="NanumHuman"/>
              </a:rPr>
              <a:t>W9~W12</a:t>
            </a:r>
          </a:p>
        </p:txBody>
      </p:sp>
      <p:sp>
        <p:nvSpPr>
          <p:cNvPr id="48" name="rect48"/>
          <p:cNvSpPr/>
          <p:nvPr/>
        </p:nvSpPr>
        <p:spPr>
          <a:xfrm>
            <a:off x="5886450" y="2476500"/>
            <a:ext cx="1819275" cy="304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tb49"/>
          <p:cNvSpPr txBox="1"/>
          <p:nvPr/>
        </p:nvSpPr>
        <p:spPr>
          <a:xfrm>
            <a:off x="5886450" y="2533650"/>
            <a:ext cx="1819275" cy="2286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1" dirty="0">
                <a:solidFill>
                  <a:srgbClr val="4B4D4C"/>
                </a:solidFill>
                <a:latin typeface="NanumHuman"/>
                <a:ea typeface="NanumHuman"/>
              </a:rPr>
              <a:t>W13~W20</a:t>
            </a:r>
          </a:p>
        </p:txBody>
      </p:sp>
      <p:sp>
        <p:nvSpPr>
          <p:cNvPr id="50" name="rect50"/>
          <p:cNvSpPr/>
          <p:nvPr/>
        </p:nvSpPr>
        <p:spPr>
          <a:xfrm>
            <a:off x="7734300" y="2476500"/>
            <a:ext cx="1819275" cy="304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b51"/>
          <p:cNvSpPr txBox="1"/>
          <p:nvPr/>
        </p:nvSpPr>
        <p:spPr>
          <a:xfrm>
            <a:off x="7734300" y="2533650"/>
            <a:ext cx="1819275" cy="2286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1" dirty="0">
                <a:solidFill>
                  <a:srgbClr val="4B4D4C"/>
                </a:solidFill>
                <a:latin typeface="NanumHuman"/>
                <a:ea typeface="NanumHuman"/>
              </a:rPr>
              <a:t>W21~W24</a:t>
            </a:r>
          </a:p>
        </p:txBody>
      </p:sp>
      <p:sp>
        <p:nvSpPr>
          <p:cNvPr id="52" name="rect52"/>
          <p:cNvSpPr/>
          <p:nvPr/>
        </p:nvSpPr>
        <p:spPr>
          <a:xfrm>
            <a:off x="9582150" y="2476500"/>
            <a:ext cx="1819275" cy="304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tb53"/>
          <p:cNvSpPr txBox="1"/>
          <p:nvPr/>
        </p:nvSpPr>
        <p:spPr>
          <a:xfrm>
            <a:off x="9582150" y="2533650"/>
            <a:ext cx="1819275" cy="2286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1" dirty="0">
                <a:solidFill>
                  <a:srgbClr val="4B4D4C"/>
                </a:solidFill>
                <a:latin typeface="NanumHuman"/>
                <a:ea typeface="NanumHuman"/>
              </a:rPr>
              <a:t>W25~W32</a:t>
            </a:r>
          </a:p>
        </p:txBody>
      </p:sp>
      <p:sp>
        <p:nvSpPr>
          <p:cNvPr id="54" name="rect54"/>
          <p:cNvSpPr/>
          <p:nvPr/>
        </p:nvSpPr>
        <p:spPr>
          <a:xfrm>
            <a:off x="762000" y="2857500"/>
            <a:ext cx="1371600" cy="438150"/>
          </a:xfrm>
          <a:prstGeom prst="rect">
            <a:avLst/>
          </a:prstGeom>
          <a:solidFill>
            <a:srgbClr val="373938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tb55"/>
          <p:cNvSpPr txBox="1"/>
          <p:nvPr/>
        </p:nvSpPr>
        <p:spPr>
          <a:xfrm>
            <a:off x="819150" y="2914650"/>
            <a:ext cx="1257300" cy="3238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NanumHuman"/>
                <a:ea typeface="NanumHuman"/>
              </a:rPr>
              <a:t>BM 및 사업화</a:t>
            </a:r>
          </a:p>
        </p:txBody>
      </p:sp>
      <p:sp>
        <p:nvSpPr>
          <p:cNvPr id="56" name="rect56"/>
          <p:cNvSpPr/>
          <p:nvPr/>
        </p:nvSpPr>
        <p:spPr>
          <a:xfrm>
            <a:off x="2190750" y="2914650"/>
            <a:ext cx="3638550" cy="323850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tb57"/>
          <p:cNvSpPr txBox="1"/>
          <p:nvPr/>
        </p:nvSpPr>
        <p:spPr>
          <a:xfrm>
            <a:off x="2228850" y="2933700"/>
            <a:ext cx="3562350" cy="2857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문제 정의 및 BM 수립</a:t>
            </a:r>
          </a:p>
        </p:txBody>
      </p:sp>
      <p:sp>
        <p:nvSpPr>
          <p:cNvPr id="58" name="rect58"/>
          <p:cNvSpPr/>
          <p:nvPr/>
        </p:nvSpPr>
        <p:spPr>
          <a:xfrm>
            <a:off x="5886450" y="2914650"/>
            <a:ext cx="3638550" cy="3238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tb59"/>
          <p:cNvSpPr txBox="1"/>
          <p:nvPr/>
        </p:nvSpPr>
        <p:spPr>
          <a:xfrm>
            <a:off x="5924550" y="2933700"/>
            <a:ext cx="3562350" cy="2857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시장성 검증 및 사업계획서</a:t>
            </a:r>
          </a:p>
        </p:txBody>
      </p:sp>
      <p:sp>
        <p:nvSpPr>
          <p:cNvPr id="60" name="rect60"/>
          <p:cNvSpPr/>
          <p:nvPr/>
        </p:nvSpPr>
        <p:spPr>
          <a:xfrm>
            <a:off x="762000" y="3371850"/>
            <a:ext cx="1371600" cy="438150"/>
          </a:xfrm>
          <a:prstGeom prst="rect">
            <a:avLst/>
          </a:prstGeom>
          <a:solidFill>
            <a:srgbClr val="373938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b61"/>
          <p:cNvSpPr txBox="1"/>
          <p:nvPr/>
        </p:nvSpPr>
        <p:spPr>
          <a:xfrm>
            <a:off x="819150" y="3429000"/>
            <a:ext cx="1257300" cy="3238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NanumHuman"/>
                <a:ea typeface="NanumHuman"/>
              </a:rPr>
              <a:t>Action Week</a:t>
            </a:r>
          </a:p>
        </p:txBody>
      </p:sp>
      <p:sp>
        <p:nvSpPr>
          <p:cNvPr id="62" name="rect62"/>
          <p:cNvSpPr/>
          <p:nvPr/>
        </p:nvSpPr>
        <p:spPr>
          <a:xfrm>
            <a:off x="4038600" y="3429000"/>
            <a:ext cx="3638550" cy="323850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tb63"/>
          <p:cNvSpPr txBox="1"/>
          <p:nvPr/>
        </p:nvSpPr>
        <p:spPr>
          <a:xfrm>
            <a:off x="4076700" y="3448050"/>
            <a:ext cx="3562350" cy="2857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MVP 제작 (현장 실행)</a:t>
            </a:r>
          </a:p>
        </p:txBody>
      </p:sp>
      <p:sp>
        <p:nvSpPr>
          <p:cNvPr id="64" name="rect64"/>
          <p:cNvSpPr/>
          <p:nvPr/>
        </p:nvSpPr>
        <p:spPr>
          <a:xfrm>
            <a:off x="7734300" y="3429000"/>
            <a:ext cx="3638550" cy="3238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tb65"/>
          <p:cNvSpPr txBox="1"/>
          <p:nvPr/>
        </p:nvSpPr>
        <p:spPr>
          <a:xfrm>
            <a:off x="7772400" y="3448050"/>
            <a:ext cx="3562350" cy="2857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지표 개선 (현장 실행)</a:t>
            </a:r>
          </a:p>
        </p:txBody>
      </p:sp>
      <p:sp>
        <p:nvSpPr>
          <p:cNvPr id="66" name="rect66"/>
          <p:cNvSpPr/>
          <p:nvPr/>
        </p:nvSpPr>
        <p:spPr>
          <a:xfrm>
            <a:off x="762000" y="3886200"/>
            <a:ext cx="1371600" cy="438150"/>
          </a:xfrm>
          <a:prstGeom prst="rect">
            <a:avLst/>
          </a:prstGeom>
          <a:solidFill>
            <a:srgbClr val="373938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tb67"/>
          <p:cNvSpPr txBox="1"/>
          <p:nvPr/>
        </p:nvSpPr>
        <p:spPr>
          <a:xfrm>
            <a:off x="819150" y="3943350"/>
            <a:ext cx="1257300" cy="3238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NanumHuman"/>
                <a:ea typeface="NanumHuman"/>
              </a:rPr>
              <a:t>IR 및 피칭</a:t>
            </a:r>
          </a:p>
        </p:txBody>
      </p:sp>
      <p:sp>
        <p:nvSpPr>
          <p:cNvPr id="68" name="rect68"/>
          <p:cNvSpPr/>
          <p:nvPr/>
        </p:nvSpPr>
        <p:spPr>
          <a:xfrm>
            <a:off x="9582150" y="3943350"/>
            <a:ext cx="3638550" cy="323850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tb69"/>
          <p:cNvSpPr txBox="1"/>
          <p:nvPr/>
        </p:nvSpPr>
        <p:spPr>
          <a:xfrm>
            <a:off x="9620250" y="3962400"/>
            <a:ext cx="3562350" cy="2857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IR Deck 기획 및 모의 피칭</a:t>
            </a:r>
          </a:p>
        </p:txBody>
      </p:sp>
      <p:sp>
        <p:nvSpPr>
          <p:cNvPr id="70" name="rect70"/>
          <p:cNvSpPr/>
          <p:nvPr/>
        </p:nvSpPr>
        <p:spPr>
          <a:xfrm>
            <a:off x="762000" y="4476750"/>
            <a:ext cx="10668000" cy="762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tb71"/>
          <p:cNvSpPr txBox="1"/>
          <p:nvPr/>
        </p:nvSpPr>
        <p:spPr>
          <a:xfrm>
            <a:off x="904875" y="4533900"/>
            <a:ext cx="1905000" cy="2286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F05519"/>
                </a:solidFill>
                <a:latin typeface="NanumHuman"/>
                <a:ea typeface="NanumHuman"/>
              </a:rPr>
              <a:t>근거</a:t>
            </a:r>
          </a:p>
        </p:txBody>
      </p:sp>
      <p:sp>
        <p:nvSpPr>
          <p:cNvPr id="72" name="tb72"/>
          <p:cNvSpPr txBox="1"/>
          <p:nvPr/>
        </p:nvSpPr>
        <p:spPr>
          <a:xfrm>
            <a:off x="904875" y="4743450"/>
            <a:ext cx="10382250" cy="457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참여기업 30개사 100% 사업계획서 도출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(본 사업 목표)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참여기업 30개사 100% IR Deck 완성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(본 사업 목표)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충남 지역 AC/VC 연계 후속 미팅 유도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(본 사업 목표)</a:t>
            </a:r>
          </a:p>
        </p:txBody>
      </p:sp>
      <p:sp>
        <p:nvSpPr>
          <p:cNvPr id="73" name="rect73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tb74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878888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75" name="tb75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878888"/>
                </a:solidFill>
                <a:latin typeface="Poppins"/>
                <a:ea typeface="NanumHuman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b30"/>
          <p:cNvSpPr txBox="1"/>
          <p:nvPr/>
        </p:nvSpPr>
        <p:spPr>
          <a:xfrm>
            <a:off x="762000" y="2286000"/>
            <a:ext cx="3810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400" b="1" dirty="0">
                <a:solidFill>
                  <a:srgbClr val="F05519"/>
                </a:solidFill>
                <a:latin typeface="Poppins"/>
                <a:ea typeface="NanumHuman"/>
              </a:rPr>
              <a:t>04</a:t>
            </a:r>
          </a:p>
        </p:txBody>
      </p:sp>
      <p:sp>
        <p:nvSpPr>
          <p:cNvPr id="31" name="tb31"/>
          <p:cNvSpPr txBox="1"/>
          <p:nvPr/>
        </p:nvSpPr>
        <p:spPr>
          <a:xfrm>
            <a:off x="762000" y="2762250"/>
            <a:ext cx="9525000" cy="8572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FFFFFF"/>
                </a:solidFill>
                <a:latin typeface="Poppins"/>
                <a:ea typeface="NanumHuman"/>
              </a:rPr>
              <a:t>OPERATION &amp; COACHES</a:t>
            </a:r>
          </a:p>
        </p:txBody>
      </p:sp>
      <p:sp>
        <p:nvSpPr>
          <p:cNvPr id="32" name="tb32"/>
          <p:cNvSpPr txBox="1"/>
          <p:nvPr/>
        </p:nvSpPr>
        <p:spPr>
          <a:xfrm>
            <a:off x="762000" y="3714750"/>
            <a:ext cx="9525000" cy="571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800" b="1" dirty="0">
                <a:solidFill>
                  <a:srgbClr val="FFFFFF"/>
                </a:solidFill>
                <a:latin typeface="NanumHuman"/>
                <a:ea typeface="NanumHuman"/>
              </a:rPr>
              <a:t>운영 체계 및 코치진</a:t>
            </a:r>
          </a:p>
        </p:txBody>
      </p:sp>
      <p:sp>
        <p:nvSpPr>
          <p:cNvPr id="33" name="rect33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b34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FFFFFF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35" name="tb35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FFFFFF"/>
                </a:solidFill>
                <a:latin typeface="Poppins"/>
                <a:ea typeface="NanumHuman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b40"/>
          <p:cNvSpPr txBox="1"/>
          <p:nvPr/>
        </p:nvSpPr>
        <p:spPr>
          <a:xfrm>
            <a:off x="762000" y="476250"/>
            <a:ext cx="9525000" cy="3238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05519"/>
                </a:solidFill>
                <a:latin typeface="Poppins"/>
                <a:ea typeface="NanumHuman"/>
              </a:rPr>
              <a:t>04 운영 체계 및 코치진</a:t>
            </a:r>
          </a:p>
        </p:txBody>
      </p:sp>
      <p:sp>
        <p:nvSpPr>
          <p:cNvPr id="41" name="tb41"/>
          <p:cNvSpPr txBox="1"/>
          <p:nvPr/>
        </p:nvSpPr>
        <p:spPr>
          <a:xfrm>
            <a:off x="762000" y="819150"/>
            <a:ext cx="10668000" cy="10477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000" b="1" dirty="0">
                <a:solidFill>
                  <a:srgbClr val="373938"/>
                </a:solidFill>
                <a:latin typeface="NanumHuman"/>
                <a:ea typeface="NanumHuman"/>
              </a:rPr>
              <a:t>10년 노하우의 전담 PMO 조직과 800명 풀 기반의 실전형 VC/AC 코치진을 투입합니다.</a:t>
            </a:r>
          </a:p>
        </p:txBody>
      </p:sp>
      <p:sp>
        <p:nvSpPr>
          <p:cNvPr id="42" name="tb42"/>
          <p:cNvSpPr txBox="1"/>
          <p:nvPr/>
        </p:nvSpPr>
        <p:spPr>
          <a:xfrm>
            <a:off x="762000" y="1866900"/>
            <a:ext cx="10668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200" b="0" dirty="0">
                <a:solidFill>
                  <a:srgbClr val="878888"/>
                </a:solidFill>
                <a:latin typeface="NanumHuman"/>
                <a:ea typeface="NanumHuman"/>
              </a:rPr>
              <a:t>교육과 행사를 분리한 전문 운영 체계 및 투자 연계형 맞춤 코칭 지원</a:t>
            </a:r>
          </a:p>
        </p:txBody>
      </p:sp>
      <p:sp>
        <p:nvSpPr>
          <p:cNvPr id="43" name="rect43"/>
          <p:cNvSpPr/>
          <p:nvPr/>
        </p:nvSpPr>
        <p:spPr>
          <a:xfrm>
            <a:off x="762000" y="2286000"/>
            <a:ext cx="10668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44"/>
          <p:cNvSpPr/>
          <p:nvPr/>
        </p:nvSpPr>
        <p:spPr>
          <a:xfrm>
            <a:off x="4572000" y="2476500"/>
            <a:ext cx="3048000" cy="514350"/>
          </a:xfrm>
          <a:prstGeom prst="rect">
            <a:avLst/>
          </a:prstGeom>
          <a:solidFill>
            <a:srgbClr val="373938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tb45"/>
          <p:cNvSpPr txBox="1"/>
          <p:nvPr/>
        </p:nvSpPr>
        <p:spPr>
          <a:xfrm>
            <a:off x="4667250" y="2552700"/>
            <a:ext cx="2857500" cy="4000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rgbClr val="FFFFFF"/>
                </a:solidFill>
                <a:latin typeface="NanumHuman"/>
                <a:ea typeface="NanumHuman"/>
              </a:rPr>
              <a:t>총괄 PM</a:t>
            </a:r>
          </a:p>
          <a:p>
            <a:pPr algn="ctr"/>
            <a:r>
              <a:rPr lang="ko-KR" altLang="en-US" sz="900" b="0" dirty="0">
                <a:solidFill>
                  <a:srgbClr val="D9D9D9"/>
                </a:solidFill>
                <a:latin typeface="NanumHuman"/>
                <a:ea typeface="NanumHuman"/>
              </a:rPr>
              <a:t>사업 총괄 및 리스크 예방</a:t>
            </a:r>
          </a:p>
        </p:txBody>
      </p:sp>
      <p:sp>
        <p:nvSpPr>
          <p:cNvPr id="46" name="rect46"/>
          <p:cNvSpPr/>
          <p:nvPr/>
        </p:nvSpPr>
        <p:spPr>
          <a:xfrm>
            <a:off x="6086475" y="2990850"/>
            <a:ext cx="19050" cy="266700"/>
          </a:xfrm>
          <a:prstGeom prst="rect">
            <a:avLst/>
          </a:prstGeom>
          <a:solidFill>
            <a:srgbClr val="87888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rect47"/>
          <p:cNvSpPr/>
          <p:nvPr/>
        </p:nvSpPr>
        <p:spPr>
          <a:xfrm>
            <a:off x="3381375" y="3238500"/>
            <a:ext cx="5429250" cy="19050"/>
          </a:xfrm>
          <a:prstGeom prst="rect">
            <a:avLst/>
          </a:prstGeom>
          <a:solidFill>
            <a:srgbClr val="87888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ect48"/>
          <p:cNvSpPr/>
          <p:nvPr/>
        </p:nvSpPr>
        <p:spPr>
          <a:xfrm>
            <a:off x="3371850" y="3238500"/>
            <a:ext cx="19050" cy="228600"/>
          </a:xfrm>
          <a:prstGeom prst="rect">
            <a:avLst/>
          </a:prstGeom>
          <a:solidFill>
            <a:srgbClr val="87888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ect49"/>
          <p:cNvSpPr/>
          <p:nvPr/>
        </p:nvSpPr>
        <p:spPr>
          <a:xfrm>
            <a:off x="762000" y="3467100"/>
            <a:ext cx="5238750" cy="609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b50"/>
          <p:cNvSpPr txBox="1"/>
          <p:nvPr/>
        </p:nvSpPr>
        <p:spPr>
          <a:xfrm>
            <a:off x="838200" y="3543300"/>
            <a:ext cx="5086350" cy="4953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1100" b="1" dirty="0">
                <a:solidFill>
                  <a:srgbClr val="373938"/>
                </a:solidFill>
                <a:latin typeface="NanumHuman"/>
                <a:ea typeface="NanumHuman"/>
              </a:rPr>
              <a:t>교육·멘토링 전담 운영역</a:t>
            </a:r>
          </a:p>
          <a:p>
            <a:pPr algn="ctr"/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[과업 1] 진도율 및 매칭 관리</a:t>
            </a:r>
          </a:p>
          <a:p>
            <a:pPr algn="ctr"/>
            <a:r>
              <a:rPr lang="ko-KR" altLang="en-US" sz="800" b="0" dirty="0">
                <a:solidFill>
                  <a:srgbClr val="4B4D4C"/>
                </a:solidFill>
                <a:latin typeface="NanumHuman"/>
                <a:ea typeface="NanumHuman"/>
              </a:rPr>
              <a:t>예비창업가 전담 코치 · 초기창업가 전담 코치</a:t>
            </a:r>
          </a:p>
        </p:txBody>
      </p:sp>
      <p:sp>
        <p:nvSpPr>
          <p:cNvPr id="51" name="rect51"/>
          <p:cNvSpPr/>
          <p:nvPr/>
        </p:nvSpPr>
        <p:spPr>
          <a:xfrm>
            <a:off x="8801100" y="3238500"/>
            <a:ext cx="19050" cy="228600"/>
          </a:xfrm>
          <a:prstGeom prst="rect">
            <a:avLst/>
          </a:prstGeom>
          <a:solidFill>
            <a:srgbClr val="878888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rect52"/>
          <p:cNvSpPr/>
          <p:nvPr/>
        </p:nvSpPr>
        <p:spPr>
          <a:xfrm>
            <a:off x="6191250" y="3467100"/>
            <a:ext cx="5238750" cy="609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tb53"/>
          <p:cNvSpPr txBox="1"/>
          <p:nvPr/>
        </p:nvSpPr>
        <p:spPr>
          <a:xfrm>
            <a:off x="6267450" y="3543300"/>
            <a:ext cx="5086350" cy="4953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1100" b="1" dirty="0">
                <a:solidFill>
                  <a:srgbClr val="373938"/>
                </a:solidFill>
                <a:latin typeface="NanumHuman"/>
                <a:ea typeface="NanumHuman"/>
              </a:rPr>
              <a:t>행사·집객 전담 운영역</a:t>
            </a:r>
          </a:p>
          <a:p>
            <a:pPr algn="ctr"/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[과업 2] 데모데이 및 홍보</a:t>
            </a:r>
          </a:p>
          <a:p>
            <a:pPr algn="ctr"/>
            <a:r>
              <a:rPr lang="ko-KR" altLang="en-US" sz="800" b="0" dirty="0">
                <a:solidFill>
                  <a:srgbClr val="4B4D4C"/>
                </a:solidFill>
                <a:latin typeface="NanumHuman"/>
                <a:ea typeface="NanumHuman"/>
              </a:rPr>
              <a:t>데모데이 기획/운영 · 투자자 네트워킹</a:t>
            </a:r>
          </a:p>
        </p:txBody>
      </p:sp>
      <p:sp>
        <p:nvSpPr>
          <p:cNvPr id="54" name="rect54"/>
          <p:cNvSpPr/>
          <p:nvPr/>
        </p:nvSpPr>
        <p:spPr>
          <a:xfrm>
            <a:off x="762000" y="4229100"/>
            <a:ext cx="10668000" cy="762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tb55"/>
          <p:cNvSpPr txBox="1"/>
          <p:nvPr/>
        </p:nvSpPr>
        <p:spPr>
          <a:xfrm>
            <a:off x="904875" y="4286250"/>
            <a:ext cx="1905000" cy="2286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F05519"/>
                </a:solidFill>
                <a:latin typeface="NanumHuman"/>
                <a:ea typeface="NanumHuman"/>
              </a:rPr>
              <a:t>근거</a:t>
            </a:r>
          </a:p>
        </p:txBody>
      </p:sp>
      <p:sp>
        <p:nvSpPr>
          <p:cNvPr id="56" name="tb56"/>
          <p:cNvSpPr txBox="1"/>
          <p:nvPr/>
        </p:nvSpPr>
        <p:spPr>
          <a:xfrm>
            <a:off x="904875" y="4495800"/>
            <a:ext cx="10382250" cy="457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창업 교육 운영 연수 10년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(언더독스 누적 실적)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보유 전문 코치 풀 800명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(언더독스 누적 실적)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누적 육성 창업가 20,211명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(언더독스 누적 실적)</a:t>
            </a:r>
          </a:p>
        </p:txBody>
      </p:sp>
      <p:sp>
        <p:nvSpPr>
          <p:cNvPr id="57" name="rect57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tb58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878888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59" name="tb59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878888"/>
                </a:solidFill>
                <a:latin typeface="Poppins"/>
                <a:ea typeface="NanumHuman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b40"/>
          <p:cNvSpPr txBox="1"/>
          <p:nvPr/>
        </p:nvSpPr>
        <p:spPr>
          <a:xfrm>
            <a:off x="762000" y="476250"/>
            <a:ext cx="9525000" cy="3238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05519"/>
                </a:solidFill>
                <a:latin typeface="Poppins"/>
                <a:ea typeface="NanumHuman"/>
              </a:rPr>
              <a:t>04 운영 체계 및 코치진</a:t>
            </a:r>
          </a:p>
        </p:txBody>
      </p:sp>
      <p:sp>
        <p:nvSpPr>
          <p:cNvPr id="41" name="tb41"/>
          <p:cNvSpPr txBox="1"/>
          <p:nvPr/>
        </p:nvSpPr>
        <p:spPr>
          <a:xfrm>
            <a:off x="762000" y="819150"/>
            <a:ext cx="10668000" cy="10477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000" b="1" dirty="0">
                <a:solidFill>
                  <a:srgbClr val="373938"/>
                </a:solidFill>
                <a:latin typeface="NanumHuman"/>
                <a:ea typeface="NanumHuman"/>
              </a:rPr>
              <a:t>발생 가능한 3대 핵심 리스크를 사전 도출하고, 전담 인력 중심의 즉각적인 대응 체계를 가동합니다.</a:t>
            </a:r>
          </a:p>
        </p:txBody>
      </p:sp>
      <p:sp>
        <p:nvSpPr>
          <p:cNvPr id="42" name="tb42"/>
          <p:cNvSpPr txBox="1"/>
          <p:nvPr/>
        </p:nvSpPr>
        <p:spPr>
          <a:xfrm>
            <a:off x="762000" y="1866900"/>
            <a:ext cx="10668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200" b="0" dirty="0">
                <a:solidFill>
                  <a:srgbClr val="878888"/>
                </a:solidFill>
                <a:latin typeface="NanumHuman"/>
                <a:ea typeface="NanumHuman"/>
              </a:rPr>
              <a:t>모집/이탈, 코칭 품질, 집객 부진에 대한 선제적 Risk Register 관리</a:t>
            </a:r>
          </a:p>
        </p:txBody>
      </p:sp>
      <p:sp>
        <p:nvSpPr>
          <p:cNvPr id="43" name="rect43"/>
          <p:cNvSpPr/>
          <p:nvPr/>
        </p:nvSpPr>
        <p:spPr>
          <a:xfrm>
            <a:off x="762000" y="2286000"/>
            <a:ext cx="10668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44"/>
          <p:cNvSpPr/>
          <p:nvPr/>
        </p:nvSpPr>
        <p:spPr>
          <a:xfrm>
            <a:off x="762000" y="2476500"/>
            <a:ext cx="2667000" cy="381000"/>
          </a:xfrm>
          <a:prstGeom prst="rect">
            <a:avLst/>
          </a:prstGeom>
          <a:solidFill>
            <a:srgbClr val="373938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ect45"/>
          <p:cNvSpPr/>
          <p:nvPr/>
        </p:nvSpPr>
        <p:spPr>
          <a:xfrm>
            <a:off x="3429000" y="2476500"/>
            <a:ext cx="4000500" cy="381000"/>
          </a:xfrm>
          <a:prstGeom prst="rect">
            <a:avLst/>
          </a:prstGeom>
          <a:solidFill>
            <a:srgbClr val="373938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rect46"/>
          <p:cNvSpPr/>
          <p:nvPr/>
        </p:nvSpPr>
        <p:spPr>
          <a:xfrm>
            <a:off x="7429500" y="2476500"/>
            <a:ext cx="4000500" cy="381000"/>
          </a:xfrm>
          <a:prstGeom prst="rect">
            <a:avLst/>
          </a:prstGeom>
          <a:solidFill>
            <a:srgbClr val="F05519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tb47"/>
          <p:cNvSpPr txBox="1"/>
          <p:nvPr/>
        </p:nvSpPr>
        <p:spPr>
          <a:xfrm>
            <a:off x="857250" y="2552700"/>
            <a:ext cx="2476500" cy="2667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NanumHuman"/>
                <a:ea typeface="NanumHuman"/>
              </a:rPr>
              <a:t>구분</a:t>
            </a:r>
          </a:p>
        </p:txBody>
      </p:sp>
      <p:sp>
        <p:nvSpPr>
          <p:cNvPr id="48" name="tb48"/>
          <p:cNvSpPr txBox="1"/>
          <p:nvPr/>
        </p:nvSpPr>
        <p:spPr>
          <a:xfrm>
            <a:off x="3524250" y="2552700"/>
            <a:ext cx="3810000" cy="2667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NanumHuman"/>
                <a:ea typeface="NanumHuman"/>
              </a:rPr>
              <a:t>예상 리스크 (Risk)</a:t>
            </a:r>
          </a:p>
        </p:txBody>
      </p:sp>
      <p:sp>
        <p:nvSpPr>
          <p:cNvPr id="49" name="tb49"/>
          <p:cNvSpPr txBox="1"/>
          <p:nvPr/>
        </p:nvSpPr>
        <p:spPr>
          <a:xfrm>
            <a:off x="7524750" y="2552700"/>
            <a:ext cx="3810000" cy="2667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NanumHuman"/>
                <a:ea typeface="NanumHuman"/>
              </a:rPr>
              <a:t>대응 전략 (Mitigation)</a:t>
            </a:r>
          </a:p>
        </p:txBody>
      </p:sp>
      <p:sp>
        <p:nvSpPr>
          <p:cNvPr id="50" name="rect50"/>
          <p:cNvSpPr/>
          <p:nvPr/>
        </p:nvSpPr>
        <p:spPr>
          <a:xfrm>
            <a:off x="762000" y="2857500"/>
            <a:ext cx="2667000" cy="381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rect51"/>
          <p:cNvSpPr/>
          <p:nvPr/>
        </p:nvSpPr>
        <p:spPr>
          <a:xfrm>
            <a:off x="3429000" y="2857500"/>
            <a:ext cx="40005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rect52"/>
          <p:cNvSpPr/>
          <p:nvPr/>
        </p:nvSpPr>
        <p:spPr>
          <a:xfrm>
            <a:off x="7429500" y="2857500"/>
            <a:ext cx="4000500" cy="381000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tb53"/>
          <p:cNvSpPr txBox="1"/>
          <p:nvPr/>
        </p:nvSpPr>
        <p:spPr>
          <a:xfrm>
            <a:off x="857250" y="2933700"/>
            <a:ext cx="2476500" cy="2667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373938"/>
                </a:solidFill>
                <a:latin typeface="NanumHuman"/>
                <a:ea typeface="NanumHuman"/>
              </a:rPr>
              <a:t>모집 및 이탈</a:t>
            </a:r>
          </a:p>
        </p:txBody>
      </p:sp>
      <p:sp>
        <p:nvSpPr>
          <p:cNvPr id="54" name="tb54"/>
          <p:cNvSpPr txBox="1"/>
          <p:nvPr/>
        </p:nvSpPr>
        <p:spPr>
          <a:xfrm>
            <a:off x="3524250" y="2933700"/>
            <a:ext cx="3810000" cy="2667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모집 미달 및 중도 이탈 발생</a:t>
            </a:r>
          </a:p>
        </p:txBody>
      </p:sp>
      <p:sp>
        <p:nvSpPr>
          <p:cNvPr id="55" name="tb55"/>
          <p:cNvSpPr txBox="1"/>
          <p:nvPr/>
        </p:nvSpPr>
        <p:spPr>
          <a:xfrm>
            <a:off x="7524750" y="2933700"/>
            <a:ext cx="3810000" cy="2667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373938"/>
                </a:solidFill>
                <a:latin typeface="NanumHuman"/>
                <a:ea typeface="NanumHuman"/>
              </a:rPr>
              <a:t>조기 홍보 가동 및 징후 감지 시 밀착 면담 (교육 전담)</a:t>
            </a:r>
          </a:p>
        </p:txBody>
      </p:sp>
      <p:sp>
        <p:nvSpPr>
          <p:cNvPr id="56" name="rect56"/>
          <p:cNvSpPr/>
          <p:nvPr/>
        </p:nvSpPr>
        <p:spPr>
          <a:xfrm>
            <a:off x="762000" y="3238500"/>
            <a:ext cx="2667000" cy="381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rect57"/>
          <p:cNvSpPr/>
          <p:nvPr/>
        </p:nvSpPr>
        <p:spPr>
          <a:xfrm>
            <a:off x="3429000" y="3238500"/>
            <a:ext cx="40005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rect58"/>
          <p:cNvSpPr/>
          <p:nvPr/>
        </p:nvSpPr>
        <p:spPr>
          <a:xfrm>
            <a:off x="7429500" y="3238500"/>
            <a:ext cx="4000500" cy="381000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tb59"/>
          <p:cNvSpPr txBox="1"/>
          <p:nvPr/>
        </p:nvSpPr>
        <p:spPr>
          <a:xfrm>
            <a:off x="857250" y="3314700"/>
            <a:ext cx="2476500" cy="2667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373938"/>
                </a:solidFill>
                <a:latin typeface="NanumHuman"/>
                <a:ea typeface="NanumHuman"/>
              </a:rPr>
              <a:t>코칭 품질</a:t>
            </a:r>
          </a:p>
        </p:txBody>
      </p:sp>
      <p:sp>
        <p:nvSpPr>
          <p:cNvPr id="60" name="tb60"/>
          <p:cNvSpPr txBox="1"/>
          <p:nvPr/>
        </p:nvSpPr>
        <p:spPr>
          <a:xfrm>
            <a:off x="3524250" y="3314700"/>
            <a:ext cx="3810000" cy="2667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코치진 이탈 및 품질 편차</a:t>
            </a:r>
          </a:p>
        </p:txBody>
      </p:sp>
      <p:sp>
        <p:nvSpPr>
          <p:cNvPr id="61" name="tb61"/>
          <p:cNvSpPr txBox="1"/>
          <p:nvPr/>
        </p:nvSpPr>
        <p:spPr>
          <a:xfrm>
            <a:off x="7524750" y="3314700"/>
            <a:ext cx="3810000" cy="2667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373938"/>
                </a:solidFill>
                <a:latin typeface="NanumHuman"/>
                <a:ea typeface="NanumHuman"/>
              </a:rPr>
              <a:t>예비 풀 확보 및 만족도 미달 시 즉시 교체 (총괄 PM)</a:t>
            </a:r>
          </a:p>
        </p:txBody>
      </p:sp>
      <p:sp>
        <p:nvSpPr>
          <p:cNvPr id="62" name="rect62"/>
          <p:cNvSpPr/>
          <p:nvPr/>
        </p:nvSpPr>
        <p:spPr>
          <a:xfrm>
            <a:off x="762000" y="3619500"/>
            <a:ext cx="2667000" cy="381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rect63"/>
          <p:cNvSpPr/>
          <p:nvPr/>
        </p:nvSpPr>
        <p:spPr>
          <a:xfrm>
            <a:off x="3429000" y="3619500"/>
            <a:ext cx="40005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rect64"/>
          <p:cNvSpPr/>
          <p:nvPr/>
        </p:nvSpPr>
        <p:spPr>
          <a:xfrm>
            <a:off x="7429500" y="3619500"/>
            <a:ext cx="4000500" cy="381000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tb65"/>
          <p:cNvSpPr txBox="1"/>
          <p:nvPr/>
        </p:nvSpPr>
        <p:spPr>
          <a:xfrm>
            <a:off x="857250" y="3695700"/>
            <a:ext cx="2476500" cy="2667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373938"/>
                </a:solidFill>
                <a:latin typeface="NanumHuman"/>
                <a:ea typeface="NanumHuman"/>
              </a:rPr>
              <a:t>행사 집객</a:t>
            </a:r>
          </a:p>
        </p:txBody>
      </p:sp>
      <p:sp>
        <p:nvSpPr>
          <p:cNvPr id="66" name="tb66"/>
          <p:cNvSpPr txBox="1"/>
          <p:nvPr/>
        </p:nvSpPr>
        <p:spPr>
          <a:xfrm>
            <a:off x="3524250" y="3695700"/>
            <a:ext cx="3810000" cy="2667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데모데이 투자자 집객 부진</a:t>
            </a:r>
          </a:p>
        </p:txBody>
      </p:sp>
      <p:sp>
        <p:nvSpPr>
          <p:cNvPr id="67" name="tb67"/>
          <p:cNvSpPr txBox="1"/>
          <p:nvPr/>
        </p:nvSpPr>
        <p:spPr>
          <a:xfrm>
            <a:off x="7524750" y="3695700"/>
            <a:ext cx="3810000" cy="2667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373938"/>
                </a:solidFill>
                <a:latin typeface="NanumHuman"/>
                <a:ea typeface="NanumHuman"/>
              </a:rPr>
              <a:t>2개월 전 초청 시작 및 초과 리스트 상시 관리 (행사 전담)</a:t>
            </a:r>
          </a:p>
        </p:txBody>
      </p:sp>
      <p:sp>
        <p:nvSpPr>
          <p:cNvPr id="68" name="rect68"/>
          <p:cNvSpPr/>
          <p:nvPr/>
        </p:nvSpPr>
        <p:spPr>
          <a:xfrm>
            <a:off x="762000" y="4152900"/>
            <a:ext cx="10668000" cy="762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tb69"/>
          <p:cNvSpPr txBox="1"/>
          <p:nvPr/>
        </p:nvSpPr>
        <p:spPr>
          <a:xfrm>
            <a:off x="904875" y="4210050"/>
            <a:ext cx="1905000" cy="2286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F05519"/>
                </a:solidFill>
                <a:latin typeface="NanumHuman"/>
                <a:ea typeface="NanumHuman"/>
              </a:rPr>
              <a:t>근거</a:t>
            </a:r>
          </a:p>
        </p:txBody>
      </p:sp>
      <p:sp>
        <p:nvSpPr>
          <p:cNvPr id="70" name="tb70"/>
          <p:cNvSpPr txBox="1"/>
          <p:nvPr/>
        </p:nvSpPr>
        <p:spPr>
          <a:xfrm>
            <a:off x="904875" y="4419600"/>
            <a:ext cx="10382250" cy="457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전국 창업 거점 인프라 30개 보유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(언더독스 누적 실적)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기업 신용등급 BB+ (안정적 사업 수행)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(기업신용평가)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누적 수주액 500억원 달성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(언더독스 누적 실적)</a:t>
            </a:r>
          </a:p>
        </p:txBody>
      </p:sp>
      <p:sp>
        <p:nvSpPr>
          <p:cNvPr id="71" name="rect71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b72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878888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73" name="tb73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878888"/>
                </a:solidFill>
                <a:latin typeface="Poppins"/>
                <a:ea typeface="NanumHuman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b30"/>
          <p:cNvSpPr txBox="1"/>
          <p:nvPr/>
        </p:nvSpPr>
        <p:spPr>
          <a:xfrm>
            <a:off x="762000" y="2286000"/>
            <a:ext cx="3810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400" b="1" dirty="0">
                <a:solidFill>
                  <a:srgbClr val="F05519"/>
                </a:solidFill>
                <a:latin typeface="Poppins"/>
                <a:ea typeface="NanumHuman"/>
              </a:rPr>
              <a:t>05</a:t>
            </a:r>
          </a:p>
        </p:txBody>
      </p:sp>
      <p:sp>
        <p:nvSpPr>
          <p:cNvPr id="31" name="tb31"/>
          <p:cNvSpPr txBox="1"/>
          <p:nvPr/>
        </p:nvSpPr>
        <p:spPr>
          <a:xfrm>
            <a:off x="762000" y="2762250"/>
            <a:ext cx="9525000" cy="8572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FFFFFF"/>
                </a:solidFill>
                <a:latin typeface="Poppins"/>
                <a:ea typeface="NanumHuman"/>
              </a:rPr>
              <a:t>BUDGET &amp; FEASIBILITY</a:t>
            </a:r>
          </a:p>
        </p:txBody>
      </p:sp>
      <p:sp>
        <p:nvSpPr>
          <p:cNvPr id="32" name="tb32"/>
          <p:cNvSpPr txBox="1"/>
          <p:nvPr/>
        </p:nvSpPr>
        <p:spPr>
          <a:xfrm>
            <a:off x="762000" y="3714750"/>
            <a:ext cx="9525000" cy="571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800" b="1" dirty="0">
                <a:solidFill>
                  <a:srgbClr val="FFFFFF"/>
                </a:solidFill>
                <a:latin typeface="NanumHuman"/>
                <a:ea typeface="NanumHuman"/>
              </a:rPr>
              <a:t>예산 및 경제성</a:t>
            </a:r>
          </a:p>
        </p:txBody>
      </p:sp>
      <p:sp>
        <p:nvSpPr>
          <p:cNvPr id="33" name="rect33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b34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FFFFFF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35" name="tb35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FFFFFF"/>
                </a:solidFill>
                <a:latin typeface="Poppins"/>
                <a:ea typeface="NanumHuman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b40"/>
          <p:cNvSpPr txBox="1"/>
          <p:nvPr/>
        </p:nvSpPr>
        <p:spPr>
          <a:xfrm>
            <a:off x="762000" y="476250"/>
            <a:ext cx="9525000" cy="3238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05519"/>
                </a:solidFill>
                <a:latin typeface="Poppins"/>
                <a:ea typeface="NanumHuman"/>
              </a:rPr>
              <a:t>05 예산 및 경제성</a:t>
            </a:r>
          </a:p>
        </p:txBody>
      </p:sp>
      <p:sp>
        <p:nvSpPr>
          <p:cNvPr id="41" name="tb41"/>
          <p:cNvSpPr txBox="1"/>
          <p:nvPr/>
        </p:nvSpPr>
        <p:spPr>
          <a:xfrm>
            <a:off x="762000" y="819150"/>
            <a:ext cx="10668000" cy="10477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000" b="1" dirty="0">
                <a:solidFill>
                  <a:srgbClr val="373938"/>
                </a:solidFill>
                <a:latin typeface="NanumHuman"/>
                <a:ea typeface="NanumHuman"/>
              </a:rPr>
              <a:t>총 예산 2.5억 원 중 65%를 교육과 투자 연계에 집중 배분하여 투입 대비 산출 효과를 극대화합니다.</a:t>
            </a:r>
          </a:p>
        </p:txBody>
      </p:sp>
      <p:sp>
        <p:nvSpPr>
          <p:cNvPr id="42" name="tb42"/>
          <p:cNvSpPr txBox="1"/>
          <p:nvPr/>
        </p:nvSpPr>
        <p:spPr>
          <a:xfrm>
            <a:off x="762000" y="1866900"/>
            <a:ext cx="10668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200" b="0" dirty="0">
                <a:solidFill>
                  <a:srgbClr val="878888"/>
                </a:solidFill>
                <a:latin typeface="NanumHuman"/>
                <a:ea typeface="NanumHuman"/>
              </a:rPr>
              <a:t>불필요한 행정 소모를 최소화하고, 창업가 30명의 실질적 성장에 재원을 집중합니다.</a:t>
            </a:r>
          </a:p>
        </p:txBody>
      </p:sp>
      <p:sp>
        <p:nvSpPr>
          <p:cNvPr id="43" name="rect43"/>
          <p:cNvSpPr/>
          <p:nvPr/>
        </p:nvSpPr>
        <p:spPr>
          <a:xfrm>
            <a:off x="762000" y="2286000"/>
            <a:ext cx="10668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44"/>
          <p:cNvSpPr/>
          <p:nvPr/>
        </p:nvSpPr>
        <p:spPr>
          <a:xfrm>
            <a:off x="762000" y="2476500"/>
            <a:ext cx="2552700" cy="990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tb45"/>
          <p:cNvSpPr txBox="1"/>
          <p:nvPr/>
        </p:nvSpPr>
        <p:spPr>
          <a:xfrm>
            <a:off x="857250" y="2552700"/>
            <a:ext cx="2362200" cy="838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600" b="1" dirty="0">
                <a:solidFill>
                  <a:srgbClr val="F05519"/>
                </a:solidFill>
                <a:latin typeface="Poppins"/>
                <a:ea typeface="NanumHuman"/>
              </a:rPr>
              <a:t>40%</a:t>
            </a:r>
          </a:p>
          <a:p>
            <a:pPr algn="l"/>
            <a:r>
              <a:rPr lang="ko-KR" altLang="en-US" sz="1200" b="1" dirty="0">
                <a:solidFill>
                  <a:srgbClr val="373938"/>
                </a:solidFill>
                <a:latin typeface="NanumHuman"/>
                <a:ea typeface="NanumHuman"/>
              </a:rPr>
              <a:t>교육비 (1억원)</a:t>
            </a:r>
          </a:p>
          <a:p>
            <a:pPr algn="l"/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맞춤형 교육 및 1:1 밀착 코칭</a:t>
            </a:r>
          </a:p>
        </p:txBody>
      </p:sp>
      <p:sp>
        <p:nvSpPr>
          <p:cNvPr id="46" name="rect46"/>
          <p:cNvSpPr/>
          <p:nvPr/>
        </p:nvSpPr>
        <p:spPr>
          <a:xfrm>
            <a:off x="3467100" y="2476500"/>
            <a:ext cx="2552700" cy="990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tb47"/>
          <p:cNvSpPr txBox="1"/>
          <p:nvPr/>
        </p:nvSpPr>
        <p:spPr>
          <a:xfrm>
            <a:off x="3562350" y="2552700"/>
            <a:ext cx="2362200" cy="838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600" b="1" dirty="0">
                <a:solidFill>
                  <a:srgbClr val="F05519"/>
                </a:solidFill>
                <a:latin typeface="Poppins"/>
                <a:ea typeface="NanumHuman"/>
              </a:rPr>
              <a:t>25%</a:t>
            </a:r>
          </a:p>
          <a:p>
            <a:pPr algn="l"/>
            <a:r>
              <a:rPr lang="ko-KR" altLang="en-US" sz="1200" b="1" dirty="0">
                <a:solidFill>
                  <a:srgbClr val="373938"/>
                </a:solidFill>
                <a:latin typeface="NanumHuman"/>
                <a:ea typeface="NanumHuman"/>
              </a:rPr>
              <a:t>운영비 (6,250만원)</a:t>
            </a:r>
          </a:p>
          <a:p>
            <a:pPr algn="l"/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데모데이 및 VC·AC 네트워킹</a:t>
            </a:r>
          </a:p>
        </p:txBody>
      </p:sp>
      <p:sp>
        <p:nvSpPr>
          <p:cNvPr id="48" name="rect48"/>
          <p:cNvSpPr/>
          <p:nvPr/>
        </p:nvSpPr>
        <p:spPr>
          <a:xfrm>
            <a:off x="6172200" y="2476500"/>
            <a:ext cx="2552700" cy="990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tb49"/>
          <p:cNvSpPr txBox="1"/>
          <p:nvPr/>
        </p:nvSpPr>
        <p:spPr>
          <a:xfrm>
            <a:off x="6267450" y="2552700"/>
            <a:ext cx="2362200" cy="838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600" b="1" dirty="0">
                <a:solidFill>
                  <a:srgbClr val="F05519"/>
                </a:solidFill>
                <a:latin typeface="Poppins"/>
                <a:ea typeface="NanumHuman"/>
              </a:rPr>
              <a:t>25%</a:t>
            </a:r>
          </a:p>
          <a:p>
            <a:pPr algn="l"/>
            <a:r>
              <a:rPr lang="ko-KR" altLang="en-US" sz="1200" b="1" dirty="0">
                <a:solidFill>
                  <a:srgbClr val="373938"/>
                </a:solidFill>
                <a:latin typeface="NanumHuman"/>
                <a:ea typeface="NanumHuman"/>
              </a:rPr>
              <a:t>인건비 (6,250만원)</a:t>
            </a:r>
          </a:p>
          <a:p>
            <a:pPr algn="l"/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8개월 총괄 PM 및 전담 인력</a:t>
            </a:r>
          </a:p>
        </p:txBody>
      </p:sp>
      <p:sp>
        <p:nvSpPr>
          <p:cNvPr id="50" name="rect50"/>
          <p:cNvSpPr/>
          <p:nvPr/>
        </p:nvSpPr>
        <p:spPr>
          <a:xfrm>
            <a:off x="8877300" y="2476500"/>
            <a:ext cx="2552700" cy="990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b51"/>
          <p:cNvSpPr txBox="1"/>
          <p:nvPr/>
        </p:nvSpPr>
        <p:spPr>
          <a:xfrm>
            <a:off x="8972550" y="2552700"/>
            <a:ext cx="2362200" cy="838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600" b="1" dirty="0">
                <a:solidFill>
                  <a:srgbClr val="F05519"/>
                </a:solidFill>
                <a:latin typeface="Poppins"/>
                <a:ea typeface="NanumHuman"/>
              </a:rPr>
              <a:t>10%</a:t>
            </a:r>
          </a:p>
          <a:p>
            <a:pPr algn="l"/>
            <a:r>
              <a:rPr lang="ko-KR" altLang="en-US" sz="1200" b="1" dirty="0">
                <a:solidFill>
                  <a:srgbClr val="373938"/>
                </a:solidFill>
                <a:latin typeface="NanumHuman"/>
                <a:ea typeface="NanumHuman"/>
              </a:rPr>
              <a:t>기타 (2,500만원)</a:t>
            </a:r>
          </a:p>
          <a:p>
            <a:pPr algn="l"/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IR Deck 디자인 및 결과보고서</a:t>
            </a:r>
          </a:p>
        </p:txBody>
      </p:sp>
      <p:sp>
        <p:nvSpPr>
          <p:cNvPr id="52" name="rect52"/>
          <p:cNvSpPr/>
          <p:nvPr/>
        </p:nvSpPr>
        <p:spPr>
          <a:xfrm>
            <a:off x="762000" y="3771900"/>
            <a:ext cx="10668000" cy="762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tb53"/>
          <p:cNvSpPr txBox="1"/>
          <p:nvPr/>
        </p:nvSpPr>
        <p:spPr>
          <a:xfrm>
            <a:off x="904875" y="3829050"/>
            <a:ext cx="1905000" cy="2286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F05519"/>
                </a:solidFill>
                <a:latin typeface="NanumHuman"/>
                <a:ea typeface="NanumHuman"/>
              </a:rPr>
              <a:t>근거</a:t>
            </a:r>
          </a:p>
        </p:txBody>
      </p:sp>
      <p:sp>
        <p:nvSpPr>
          <p:cNvPr id="54" name="tb54"/>
          <p:cNvSpPr txBox="1"/>
          <p:nvPr/>
        </p:nvSpPr>
        <p:spPr>
          <a:xfrm>
            <a:off x="904875" y="4038600"/>
            <a:ext cx="10382250" cy="457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총 예산 2억 5천만 원 (VAT 포함) 목적 외 사용 원천 차단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(제안요청서 기준)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충남 지역 청년 창업가 30명 성공 정착을 위한 맞춤형 예산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(과업지시서)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10년 업력 및 누적 수주 500억 원 기반의 안정적 사업 수행 역량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(언더독스 누적 실적)</a:t>
            </a:r>
          </a:p>
        </p:txBody>
      </p:sp>
      <p:sp>
        <p:nvSpPr>
          <p:cNvPr id="55" name="rect55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tb56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878888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57" name="tb57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878888"/>
                </a:solidFill>
                <a:latin typeface="Poppins"/>
                <a:ea typeface="NanumHuman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b30"/>
          <p:cNvSpPr txBox="1"/>
          <p:nvPr/>
        </p:nvSpPr>
        <p:spPr>
          <a:xfrm>
            <a:off x="762000" y="2286000"/>
            <a:ext cx="3810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400" b="1" dirty="0">
                <a:solidFill>
                  <a:srgbClr val="F05519"/>
                </a:solidFill>
                <a:latin typeface="Poppins"/>
                <a:ea typeface="NanumHuman"/>
              </a:rPr>
              <a:t>06</a:t>
            </a:r>
          </a:p>
        </p:txBody>
      </p:sp>
      <p:sp>
        <p:nvSpPr>
          <p:cNvPr id="31" name="tb31"/>
          <p:cNvSpPr txBox="1"/>
          <p:nvPr/>
        </p:nvSpPr>
        <p:spPr>
          <a:xfrm>
            <a:off x="762000" y="2762250"/>
            <a:ext cx="9525000" cy="8572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FFFFFF"/>
                </a:solidFill>
                <a:latin typeface="Poppins"/>
                <a:ea typeface="NanumHuman"/>
              </a:rPr>
              <a:t>IMPACT</a:t>
            </a:r>
          </a:p>
        </p:txBody>
      </p:sp>
      <p:sp>
        <p:nvSpPr>
          <p:cNvPr id="32" name="tb32"/>
          <p:cNvSpPr txBox="1"/>
          <p:nvPr/>
        </p:nvSpPr>
        <p:spPr>
          <a:xfrm>
            <a:off x="762000" y="3714750"/>
            <a:ext cx="9525000" cy="571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800" b="1" dirty="0">
                <a:solidFill>
                  <a:srgbClr val="FFFFFF"/>
                </a:solidFill>
                <a:latin typeface="NanumHuman"/>
                <a:ea typeface="NanumHuman"/>
              </a:rPr>
              <a:t>기대 성과 및 임팩트</a:t>
            </a:r>
          </a:p>
        </p:txBody>
      </p:sp>
      <p:sp>
        <p:nvSpPr>
          <p:cNvPr id="33" name="rect33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b34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FFFFFF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35" name="tb35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FFFFFF"/>
                </a:solidFill>
                <a:latin typeface="Poppins"/>
                <a:ea typeface="NanumHuman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b40"/>
          <p:cNvSpPr txBox="1"/>
          <p:nvPr/>
        </p:nvSpPr>
        <p:spPr>
          <a:xfrm>
            <a:off x="762000" y="476250"/>
            <a:ext cx="9525000" cy="3238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05519"/>
                </a:solidFill>
                <a:latin typeface="Poppins"/>
                <a:ea typeface="NanumHuman"/>
              </a:rPr>
              <a:t>06 기대 성과 및 임팩트</a:t>
            </a:r>
          </a:p>
        </p:txBody>
      </p:sp>
      <p:sp>
        <p:nvSpPr>
          <p:cNvPr id="41" name="tb41"/>
          <p:cNvSpPr txBox="1"/>
          <p:nvPr/>
        </p:nvSpPr>
        <p:spPr>
          <a:xfrm>
            <a:off x="762000" y="819150"/>
            <a:ext cx="10668000" cy="10477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000" b="1" dirty="0">
                <a:solidFill>
                  <a:srgbClr val="373938"/>
                </a:solidFill>
                <a:latin typeface="NanumHuman"/>
                <a:ea typeface="NanumHuman"/>
              </a:rPr>
              <a:t>참여기업 30개사 전원의 사업계획서 및 IR 완성을 넘어, 충남 지역 내 안정적 정착과 신규 고용을 창출합니다.</a:t>
            </a:r>
          </a:p>
        </p:txBody>
      </p:sp>
      <p:sp>
        <p:nvSpPr>
          <p:cNvPr id="42" name="tb42"/>
          <p:cNvSpPr txBox="1"/>
          <p:nvPr/>
        </p:nvSpPr>
        <p:spPr>
          <a:xfrm>
            <a:off x="762000" y="1866900"/>
            <a:ext cx="10668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200" b="0" dirty="0">
                <a:solidFill>
                  <a:srgbClr val="878888"/>
                </a:solidFill>
                <a:latin typeface="NanumHuman"/>
                <a:ea typeface="NanumHuman"/>
              </a:rPr>
              <a:t>8개월간의 밀착 액셀러레이팅을 통해 도출될 3대 핵심 기대 성과</a:t>
            </a:r>
          </a:p>
        </p:txBody>
      </p:sp>
      <p:sp>
        <p:nvSpPr>
          <p:cNvPr id="43" name="rect43"/>
          <p:cNvSpPr/>
          <p:nvPr/>
        </p:nvSpPr>
        <p:spPr>
          <a:xfrm>
            <a:off x="762000" y="2286000"/>
            <a:ext cx="10668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44"/>
          <p:cNvSpPr/>
          <p:nvPr/>
        </p:nvSpPr>
        <p:spPr>
          <a:xfrm>
            <a:off x="762000" y="2476500"/>
            <a:ext cx="3454400" cy="990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tb45"/>
          <p:cNvSpPr txBox="1"/>
          <p:nvPr/>
        </p:nvSpPr>
        <p:spPr>
          <a:xfrm>
            <a:off x="857250" y="2552700"/>
            <a:ext cx="3263900" cy="838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600" b="1" dirty="0">
                <a:solidFill>
                  <a:srgbClr val="F05519"/>
                </a:solidFill>
                <a:latin typeface="Poppins"/>
                <a:ea typeface="NanumHuman"/>
              </a:rPr>
              <a:t>100</a:t>
            </a:r>
          </a:p>
          <a:p>
            <a:pPr algn="l"/>
            <a:r>
              <a:rPr lang="ko-KR" altLang="en-US" sz="1200" b="1" dirty="0">
                <a:solidFill>
                  <a:srgbClr val="373938"/>
                </a:solidFill>
                <a:latin typeface="NanumHuman"/>
                <a:ea typeface="NanumHuman"/>
              </a:rPr>
              <a:t>%</a:t>
            </a:r>
          </a:p>
          <a:p>
            <a:pPr algn="l"/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사업계획서·IR 완성</a:t>
            </a:r>
          </a:p>
        </p:txBody>
      </p:sp>
      <p:sp>
        <p:nvSpPr>
          <p:cNvPr id="46" name="rect46"/>
          <p:cNvSpPr/>
          <p:nvPr/>
        </p:nvSpPr>
        <p:spPr>
          <a:xfrm>
            <a:off x="4368800" y="2476500"/>
            <a:ext cx="3454400" cy="990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tb47"/>
          <p:cNvSpPr txBox="1"/>
          <p:nvPr/>
        </p:nvSpPr>
        <p:spPr>
          <a:xfrm>
            <a:off x="4464050" y="2552700"/>
            <a:ext cx="3263900" cy="838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600" b="1" dirty="0">
                <a:solidFill>
                  <a:srgbClr val="F05519"/>
                </a:solidFill>
                <a:latin typeface="Poppins"/>
                <a:ea typeface="NanumHuman"/>
              </a:rPr>
              <a:t>1:1</a:t>
            </a:r>
          </a:p>
          <a:p>
            <a:pPr algn="l"/>
            <a:r>
              <a:rPr lang="ko-KR" altLang="en-US" sz="1200" b="1" dirty="0">
                <a:solidFill>
                  <a:srgbClr val="373938"/>
                </a:solidFill>
                <a:latin typeface="NanumHuman"/>
                <a:ea typeface="NanumHuman"/>
              </a:rPr>
              <a:t>매칭</a:t>
            </a:r>
          </a:p>
          <a:p>
            <a:pPr algn="l"/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VC·AC 투자 상담회</a:t>
            </a:r>
          </a:p>
        </p:txBody>
      </p:sp>
      <p:sp>
        <p:nvSpPr>
          <p:cNvPr id="48" name="rect48"/>
          <p:cNvSpPr/>
          <p:nvPr/>
        </p:nvSpPr>
        <p:spPr>
          <a:xfrm>
            <a:off x="7975600" y="2476500"/>
            <a:ext cx="3454400" cy="990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tb49"/>
          <p:cNvSpPr txBox="1"/>
          <p:nvPr/>
        </p:nvSpPr>
        <p:spPr>
          <a:xfrm>
            <a:off x="8070850" y="2552700"/>
            <a:ext cx="3263900" cy="838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600" b="1" dirty="0">
                <a:solidFill>
                  <a:srgbClr val="F05519"/>
                </a:solidFill>
                <a:latin typeface="Poppins"/>
                <a:ea typeface="NanumHuman"/>
              </a:rPr>
              <a:t>30</a:t>
            </a:r>
          </a:p>
          <a:p>
            <a:pPr algn="l"/>
            <a:r>
              <a:rPr lang="ko-KR" altLang="en-US" sz="1200" b="1" dirty="0">
                <a:solidFill>
                  <a:srgbClr val="373938"/>
                </a:solidFill>
                <a:latin typeface="NanumHuman"/>
                <a:ea typeface="NanumHuman"/>
              </a:rPr>
              <a:t>개사</a:t>
            </a:r>
          </a:p>
          <a:p>
            <a:pPr algn="l"/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충남 지역 정착</a:t>
            </a:r>
          </a:p>
        </p:txBody>
      </p:sp>
      <p:sp>
        <p:nvSpPr>
          <p:cNvPr id="50" name="rect50"/>
          <p:cNvSpPr/>
          <p:nvPr/>
        </p:nvSpPr>
        <p:spPr>
          <a:xfrm>
            <a:off x="762000" y="3771900"/>
            <a:ext cx="10668000" cy="762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b51"/>
          <p:cNvSpPr txBox="1"/>
          <p:nvPr/>
        </p:nvSpPr>
        <p:spPr>
          <a:xfrm>
            <a:off x="904875" y="3829050"/>
            <a:ext cx="1905000" cy="2286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F05519"/>
                </a:solidFill>
                <a:latin typeface="NanumHuman"/>
                <a:ea typeface="NanumHuman"/>
              </a:rPr>
              <a:t>근거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904875" y="4038600"/>
            <a:ext cx="10382250" cy="457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누적 육성 창업가 20,211명 배출의 검증된 실전 창업 교육 노하우 적용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(언더독스 누적 실적)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전국 30개 거점 운영 경험 기반의 지역 특화 창업 생태계 조성 역량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(언더독스 누적 실적)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10년간 축적된 전주기 액셀러레이팅 전문성으로 과업 목표 100% 완수 보장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(언더독스 누적 실적)</a:t>
            </a:r>
          </a:p>
        </p:txBody>
      </p:sp>
      <p:sp>
        <p:nvSpPr>
          <p:cNvPr id="53" name="rect53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tb54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878888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55" name="tb55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878888"/>
                </a:solidFill>
                <a:latin typeface="Poppins"/>
                <a:ea typeface="NanumHuman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b30"/>
          <p:cNvSpPr txBox="1"/>
          <p:nvPr/>
        </p:nvSpPr>
        <p:spPr>
          <a:xfrm>
            <a:off x="762000" y="2286000"/>
            <a:ext cx="3810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400" b="1" dirty="0">
                <a:solidFill>
                  <a:srgbClr val="F05519"/>
                </a:solidFill>
                <a:latin typeface="Poppins"/>
                <a:ea typeface="NanumHuman"/>
              </a:rPr>
              <a:t>07</a:t>
            </a:r>
          </a:p>
        </p:txBody>
      </p:sp>
      <p:sp>
        <p:nvSpPr>
          <p:cNvPr id="31" name="tb31"/>
          <p:cNvSpPr txBox="1"/>
          <p:nvPr/>
        </p:nvSpPr>
        <p:spPr>
          <a:xfrm>
            <a:off x="762000" y="2762250"/>
            <a:ext cx="9525000" cy="8572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FFFFFF"/>
                </a:solidFill>
                <a:latin typeface="Poppins"/>
                <a:ea typeface="NanumHuman"/>
              </a:rPr>
              <a:t>TRACK RECORD</a:t>
            </a:r>
          </a:p>
        </p:txBody>
      </p:sp>
      <p:sp>
        <p:nvSpPr>
          <p:cNvPr id="32" name="tb32"/>
          <p:cNvSpPr txBox="1"/>
          <p:nvPr/>
        </p:nvSpPr>
        <p:spPr>
          <a:xfrm>
            <a:off x="762000" y="3714750"/>
            <a:ext cx="9525000" cy="571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800" b="1" dirty="0">
                <a:solidFill>
                  <a:srgbClr val="FFFFFF"/>
                </a:solidFill>
                <a:latin typeface="NanumHuman"/>
                <a:ea typeface="NanumHuman"/>
              </a:rPr>
              <a:t>수행 역량 및 실적</a:t>
            </a:r>
          </a:p>
        </p:txBody>
      </p:sp>
      <p:sp>
        <p:nvSpPr>
          <p:cNvPr id="33" name="rect33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b34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FFFFFF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35" name="tb35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FFFFFF"/>
                </a:solidFill>
                <a:latin typeface="Poppins"/>
                <a:ea typeface="NanumHuman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b40"/>
          <p:cNvSpPr txBox="1"/>
          <p:nvPr/>
        </p:nvSpPr>
        <p:spPr>
          <a:xfrm>
            <a:off x="762000" y="476250"/>
            <a:ext cx="9525000" cy="3238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05519"/>
                </a:solidFill>
                <a:latin typeface="Poppins"/>
                <a:ea typeface="NanumHuman"/>
              </a:rPr>
              <a:t>07 수행 역량 및 실적</a:t>
            </a:r>
          </a:p>
        </p:txBody>
      </p:sp>
      <p:sp>
        <p:nvSpPr>
          <p:cNvPr id="41" name="tb41"/>
          <p:cNvSpPr txBox="1"/>
          <p:nvPr/>
        </p:nvSpPr>
        <p:spPr>
          <a:xfrm>
            <a:off x="762000" y="819150"/>
            <a:ext cx="10668000" cy="10477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000" b="1" dirty="0">
                <a:solidFill>
                  <a:srgbClr val="373938"/>
                </a:solidFill>
                <a:latin typeface="NanumHuman"/>
                <a:ea typeface="NanumHuman"/>
              </a:rPr>
              <a:t>10년간 2만 명을 육성한 압도적 실적과 검증된 노하우로 충남 청년 창업 사업을 안정적으로 완수합니다.</a:t>
            </a:r>
          </a:p>
        </p:txBody>
      </p:sp>
      <p:sp>
        <p:nvSpPr>
          <p:cNvPr id="42" name="tb42"/>
          <p:cNvSpPr txBox="1"/>
          <p:nvPr/>
        </p:nvSpPr>
        <p:spPr>
          <a:xfrm>
            <a:off x="762000" y="1866900"/>
            <a:ext cx="10668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200" b="0" dirty="0">
                <a:solidFill>
                  <a:srgbClr val="878888"/>
                </a:solidFill>
                <a:latin typeface="NanumHuman"/>
                <a:ea typeface="NanumHuman"/>
              </a:rPr>
              <a:t>국내 최대 규모의 창업 교육 실적과 탄탄한 재무 건전성으로 리스크 없는 사업 수행을 약속합니다.</a:t>
            </a:r>
          </a:p>
        </p:txBody>
      </p:sp>
      <p:sp>
        <p:nvSpPr>
          <p:cNvPr id="43" name="rect43"/>
          <p:cNvSpPr/>
          <p:nvPr/>
        </p:nvSpPr>
        <p:spPr>
          <a:xfrm>
            <a:off x="762000" y="2286000"/>
            <a:ext cx="10668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44"/>
          <p:cNvSpPr/>
          <p:nvPr/>
        </p:nvSpPr>
        <p:spPr>
          <a:xfrm>
            <a:off x="762000" y="2476500"/>
            <a:ext cx="3454400" cy="990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tb45"/>
          <p:cNvSpPr txBox="1"/>
          <p:nvPr/>
        </p:nvSpPr>
        <p:spPr>
          <a:xfrm>
            <a:off x="857250" y="2552700"/>
            <a:ext cx="3263900" cy="838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600" b="1" dirty="0">
                <a:solidFill>
                  <a:srgbClr val="F05519"/>
                </a:solidFill>
                <a:latin typeface="Poppins"/>
                <a:ea typeface="NanumHuman"/>
              </a:rPr>
              <a:t>10</a:t>
            </a:r>
          </a:p>
          <a:p>
            <a:pPr algn="l"/>
            <a:r>
              <a:rPr lang="ko-KR" altLang="en-US" sz="1200" b="1" dirty="0">
                <a:solidFill>
                  <a:srgbClr val="373938"/>
                </a:solidFill>
                <a:latin typeface="NanumHuman"/>
                <a:ea typeface="NanumHuman"/>
              </a:rPr>
              <a:t>년</a:t>
            </a:r>
          </a:p>
          <a:p>
            <a:pPr algn="l"/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창업 교육 운영 연수</a:t>
            </a:r>
          </a:p>
        </p:txBody>
      </p:sp>
      <p:sp>
        <p:nvSpPr>
          <p:cNvPr id="46" name="rect46"/>
          <p:cNvSpPr/>
          <p:nvPr/>
        </p:nvSpPr>
        <p:spPr>
          <a:xfrm>
            <a:off x="4368800" y="2476500"/>
            <a:ext cx="3454400" cy="990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tb47"/>
          <p:cNvSpPr txBox="1"/>
          <p:nvPr/>
        </p:nvSpPr>
        <p:spPr>
          <a:xfrm>
            <a:off x="4464050" y="2552700"/>
            <a:ext cx="3263900" cy="838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600" b="1" dirty="0">
                <a:solidFill>
                  <a:srgbClr val="F05519"/>
                </a:solidFill>
                <a:latin typeface="Poppins"/>
                <a:ea typeface="NanumHuman"/>
              </a:rPr>
              <a:t>20,211</a:t>
            </a:r>
          </a:p>
          <a:p>
            <a:pPr algn="l"/>
            <a:r>
              <a:rPr lang="ko-KR" altLang="en-US" sz="1200" b="1" dirty="0">
                <a:solidFill>
                  <a:srgbClr val="373938"/>
                </a:solidFill>
                <a:latin typeface="NanumHuman"/>
                <a:ea typeface="NanumHuman"/>
              </a:rPr>
              <a:t>명</a:t>
            </a:r>
          </a:p>
          <a:p>
            <a:pPr algn="l"/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누적 육성 창업가</a:t>
            </a:r>
          </a:p>
        </p:txBody>
      </p:sp>
      <p:sp>
        <p:nvSpPr>
          <p:cNvPr id="48" name="rect48"/>
          <p:cNvSpPr/>
          <p:nvPr/>
        </p:nvSpPr>
        <p:spPr>
          <a:xfrm>
            <a:off x="7975600" y="2476500"/>
            <a:ext cx="3454400" cy="990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tb49"/>
          <p:cNvSpPr txBox="1"/>
          <p:nvPr/>
        </p:nvSpPr>
        <p:spPr>
          <a:xfrm>
            <a:off x="8070850" y="2552700"/>
            <a:ext cx="3263900" cy="838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600" b="1" dirty="0">
                <a:solidFill>
                  <a:srgbClr val="F05519"/>
                </a:solidFill>
                <a:latin typeface="Poppins"/>
                <a:ea typeface="NanumHuman"/>
              </a:rPr>
              <a:t>800</a:t>
            </a:r>
          </a:p>
          <a:p>
            <a:pPr algn="l"/>
            <a:r>
              <a:rPr lang="ko-KR" altLang="en-US" sz="1200" b="1" dirty="0">
                <a:solidFill>
                  <a:srgbClr val="373938"/>
                </a:solidFill>
                <a:latin typeface="NanumHuman"/>
                <a:ea typeface="NanumHuman"/>
              </a:rPr>
              <a:t>명</a:t>
            </a:r>
          </a:p>
          <a:p>
            <a:pPr algn="l"/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전문 코치 풀 확보</a:t>
            </a:r>
          </a:p>
        </p:txBody>
      </p:sp>
      <p:sp>
        <p:nvSpPr>
          <p:cNvPr id="50" name="rect50"/>
          <p:cNvSpPr/>
          <p:nvPr/>
        </p:nvSpPr>
        <p:spPr>
          <a:xfrm>
            <a:off x="762000" y="3619500"/>
            <a:ext cx="3454400" cy="990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b51"/>
          <p:cNvSpPr txBox="1"/>
          <p:nvPr/>
        </p:nvSpPr>
        <p:spPr>
          <a:xfrm>
            <a:off x="857250" y="3695700"/>
            <a:ext cx="3263900" cy="838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600" b="1" dirty="0">
                <a:solidFill>
                  <a:srgbClr val="F05519"/>
                </a:solidFill>
                <a:latin typeface="Poppins"/>
                <a:ea typeface="NanumHuman"/>
              </a:rPr>
              <a:t>500</a:t>
            </a:r>
          </a:p>
          <a:p>
            <a:pPr algn="l"/>
            <a:r>
              <a:rPr lang="ko-KR" altLang="en-US" sz="1200" b="1" dirty="0">
                <a:solidFill>
                  <a:srgbClr val="373938"/>
                </a:solidFill>
                <a:latin typeface="NanumHuman"/>
                <a:ea typeface="NanumHuman"/>
              </a:rPr>
              <a:t>억원</a:t>
            </a:r>
          </a:p>
          <a:p>
            <a:pPr algn="l"/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누적 수주액</a:t>
            </a:r>
          </a:p>
        </p:txBody>
      </p:sp>
      <p:sp>
        <p:nvSpPr>
          <p:cNvPr id="52" name="rect52"/>
          <p:cNvSpPr/>
          <p:nvPr/>
        </p:nvSpPr>
        <p:spPr>
          <a:xfrm>
            <a:off x="4368800" y="3619500"/>
            <a:ext cx="3454400" cy="990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tb53"/>
          <p:cNvSpPr txBox="1"/>
          <p:nvPr/>
        </p:nvSpPr>
        <p:spPr>
          <a:xfrm>
            <a:off x="4464050" y="3695700"/>
            <a:ext cx="3263900" cy="838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600" b="1" dirty="0">
                <a:solidFill>
                  <a:srgbClr val="F05519"/>
                </a:solidFill>
                <a:latin typeface="Poppins"/>
                <a:ea typeface="NanumHuman"/>
              </a:rPr>
              <a:t>30</a:t>
            </a:r>
          </a:p>
          <a:p>
            <a:pPr algn="l"/>
            <a:r>
              <a:rPr lang="ko-KR" altLang="en-US" sz="1200" b="1" dirty="0">
                <a:solidFill>
                  <a:srgbClr val="373938"/>
                </a:solidFill>
                <a:latin typeface="NanumHuman"/>
                <a:ea typeface="NanumHuman"/>
              </a:rPr>
              <a:t>개</a:t>
            </a:r>
          </a:p>
          <a:p>
            <a:pPr algn="l"/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전국 운영 거점</a:t>
            </a:r>
          </a:p>
        </p:txBody>
      </p:sp>
      <p:sp>
        <p:nvSpPr>
          <p:cNvPr id="54" name="rect54"/>
          <p:cNvSpPr/>
          <p:nvPr/>
        </p:nvSpPr>
        <p:spPr>
          <a:xfrm>
            <a:off x="7975600" y="3619500"/>
            <a:ext cx="3454400" cy="990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tb55"/>
          <p:cNvSpPr txBox="1"/>
          <p:nvPr/>
        </p:nvSpPr>
        <p:spPr>
          <a:xfrm>
            <a:off x="8070850" y="3695700"/>
            <a:ext cx="3263900" cy="838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600" b="1" dirty="0">
                <a:solidFill>
                  <a:srgbClr val="F05519"/>
                </a:solidFill>
                <a:latin typeface="Poppins"/>
                <a:ea typeface="NanumHuman"/>
              </a:rPr>
              <a:t>BB+</a:t>
            </a:r>
          </a:p>
          <a:p>
            <a:pPr algn="l"/>
            <a:r>
              <a:rPr lang="ko-KR" altLang="en-US" sz="1200" b="1" dirty="0">
                <a:solidFill>
                  <a:srgbClr val="373938"/>
                </a:solidFill>
                <a:latin typeface="NanumHuman"/>
                <a:ea typeface="NanumHuman"/>
              </a:rPr>
              <a:t>등급</a:t>
            </a:r>
          </a:p>
          <a:p>
            <a:pPr algn="l"/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기업 신용등급</a:t>
            </a:r>
          </a:p>
        </p:txBody>
      </p:sp>
      <p:sp>
        <p:nvSpPr>
          <p:cNvPr id="56" name="rect56"/>
          <p:cNvSpPr/>
          <p:nvPr/>
        </p:nvSpPr>
        <p:spPr>
          <a:xfrm>
            <a:off x="762000" y="4914900"/>
            <a:ext cx="10668000" cy="762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tb57"/>
          <p:cNvSpPr txBox="1"/>
          <p:nvPr/>
        </p:nvSpPr>
        <p:spPr>
          <a:xfrm>
            <a:off x="904875" y="4972050"/>
            <a:ext cx="1905000" cy="2286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F05519"/>
                </a:solidFill>
                <a:latin typeface="NanumHuman"/>
                <a:ea typeface="NanumHuman"/>
              </a:rPr>
              <a:t>근거</a:t>
            </a:r>
          </a:p>
        </p:txBody>
      </p:sp>
      <p:sp>
        <p:nvSpPr>
          <p:cNvPr id="58" name="tb58"/>
          <p:cNvSpPr txBox="1"/>
          <p:nvPr/>
        </p:nvSpPr>
        <p:spPr>
          <a:xfrm>
            <a:off x="904875" y="5181600"/>
            <a:ext cx="10382250" cy="457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누적 육성 창업가 20,211명 및 누적 수주 500억원 달성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(언더독스 누적 실적)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전국 30개 거점 및 800명 전문 코치 풀 보유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(언더독스 내부 데이터)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안정적 사업 수행을 증명하는 기업 신용등급 BB+ 획득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(공인신용평가기관)</a:t>
            </a:r>
          </a:p>
        </p:txBody>
      </p:sp>
      <p:sp>
        <p:nvSpPr>
          <p:cNvPr id="59" name="rect59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tb60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878888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61" name="tb61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878888"/>
                </a:solidFill>
                <a:latin typeface="Poppins"/>
                <a:ea typeface="NanumHuman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b40"/>
          <p:cNvSpPr txBox="1"/>
          <p:nvPr/>
        </p:nvSpPr>
        <p:spPr>
          <a:xfrm>
            <a:off x="762000" y="476250"/>
            <a:ext cx="9525000" cy="3238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05519"/>
                </a:solidFill>
                <a:latin typeface="Poppins"/>
                <a:ea typeface="NanumHuman"/>
              </a:rPr>
              <a:t>07 수행 역량 및 실적</a:t>
            </a:r>
          </a:p>
        </p:txBody>
      </p:sp>
      <p:sp>
        <p:nvSpPr>
          <p:cNvPr id="41" name="tb41"/>
          <p:cNvSpPr txBox="1"/>
          <p:nvPr/>
        </p:nvSpPr>
        <p:spPr>
          <a:xfrm>
            <a:off x="762000" y="819150"/>
            <a:ext cx="10668000" cy="10477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000" b="1" dirty="0">
                <a:solidFill>
                  <a:srgbClr val="373938"/>
                </a:solidFill>
                <a:latin typeface="NanumHuman"/>
                <a:ea typeface="NanumHuman"/>
              </a:rPr>
              <a:t>실전형 BM 고도화부터 실질적 투자 매칭, 전담 PMO까지 성공적인 데모데이를 위한 3대 핵심 역량을 투입합니다.</a:t>
            </a:r>
          </a:p>
        </p:txBody>
      </p:sp>
      <p:sp>
        <p:nvSpPr>
          <p:cNvPr id="42" name="tb42"/>
          <p:cNvSpPr txBox="1"/>
          <p:nvPr/>
        </p:nvSpPr>
        <p:spPr>
          <a:xfrm>
            <a:off x="762000" y="1866900"/>
            <a:ext cx="10668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200" b="0" dirty="0">
                <a:solidFill>
                  <a:srgbClr val="878888"/>
                </a:solidFill>
                <a:latin typeface="NanumHuman"/>
                <a:ea typeface="NanumHuman"/>
              </a:rPr>
              <a:t>충남 지역 특성을 반영한 밀착 지원과 VC/AC 네트워크 연계로 참여기업의 실질적 성장을 견인합니다.</a:t>
            </a:r>
          </a:p>
        </p:txBody>
      </p:sp>
      <p:sp>
        <p:nvSpPr>
          <p:cNvPr id="43" name="rect43"/>
          <p:cNvSpPr/>
          <p:nvPr/>
        </p:nvSpPr>
        <p:spPr>
          <a:xfrm>
            <a:off x="762000" y="2286000"/>
            <a:ext cx="10668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44"/>
          <p:cNvSpPr/>
          <p:nvPr/>
        </p:nvSpPr>
        <p:spPr>
          <a:xfrm>
            <a:off x="762000" y="2476500"/>
            <a:ext cx="1714500" cy="495300"/>
          </a:xfrm>
          <a:prstGeom prst="rect">
            <a:avLst/>
          </a:prstGeom>
          <a:solidFill>
            <a:srgbClr val="373938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tb45"/>
          <p:cNvSpPr txBox="1"/>
          <p:nvPr/>
        </p:nvSpPr>
        <p:spPr>
          <a:xfrm>
            <a:off x="857250" y="2552700"/>
            <a:ext cx="1524000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200" b="1" dirty="0">
                <a:solidFill>
                  <a:srgbClr val="FFFFFF"/>
                </a:solidFill>
                <a:latin typeface="NanumHuman"/>
                <a:ea typeface="NanumHuman"/>
              </a:rPr>
              <a:t>전담 PMO 체계</a:t>
            </a:r>
          </a:p>
        </p:txBody>
      </p:sp>
      <p:sp>
        <p:nvSpPr>
          <p:cNvPr id="46" name="rect46"/>
          <p:cNvSpPr/>
          <p:nvPr/>
        </p:nvSpPr>
        <p:spPr>
          <a:xfrm>
            <a:off x="2552700" y="2476500"/>
            <a:ext cx="2195513" cy="4953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tb47"/>
          <p:cNvSpPr txBox="1"/>
          <p:nvPr/>
        </p:nvSpPr>
        <p:spPr>
          <a:xfrm>
            <a:off x="2609850" y="2552700"/>
            <a:ext cx="2081213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전문 PM 배치</a:t>
            </a:r>
          </a:p>
        </p:txBody>
      </p:sp>
      <p:sp>
        <p:nvSpPr>
          <p:cNvPr id="48" name="rect48"/>
          <p:cNvSpPr/>
          <p:nvPr/>
        </p:nvSpPr>
        <p:spPr>
          <a:xfrm>
            <a:off x="4805363" y="2476500"/>
            <a:ext cx="2195513" cy="4953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tb49"/>
          <p:cNvSpPr txBox="1"/>
          <p:nvPr/>
        </p:nvSpPr>
        <p:spPr>
          <a:xfrm>
            <a:off x="4862513" y="2552700"/>
            <a:ext cx="2081213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충남 거점 활용</a:t>
            </a:r>
          </a:p>
        </p:txBody>
      </p:sp>
      <p:sp>
        <p:nvSpPr>
          <p:cNvPr id="50" name="rect50"/>
          <p:cNvSpPr/>
          <p:nvPr/>
        </p:nvSpPr>
        <p:spPr>
          <a:xfrm>
            <a:off x="7058025" y="2476500"/>
            <a:ext cx="2195513" cy="4953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b51"/>
          <p:cNvSpPr txBox="1"/>
          <p:nvPr/>
        </p:nvSpPr>
        <p:spPr>
          <a:xfrm>
            <a:off x="7115175" y="2552700"/>
            <a:ext cx="2081213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밀착 진도 관리</a:t>
            </a:r>
          </a:p>
        </p:txBody>
      </p:sp>
      <p:sp>
        <p:nvSpPr>
          <p:cNvPr id="52" name="rect52"/>
          <p:cNvSpPr/>
          <p:nvPr/>
        </p:nvSpPr>
        <p:spPr>
          <a:xfrm>
            <a:off x="9310688" y="2476500"/>
            <a:ext cx="2195513" cy="4953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tb53"/>
          <p:cNvSpPr txBox="1"/>
          <p:nvPr/>
        </p:nvSpPr>
        <p:spPr>
          <a:xfrm>
            <a:off x="9367838" y="2552700"/>
            <a:ext cx="2081213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리스크 방지</a:t>
            </a:r>
          </a:p>
        </p:txBody>
      </p:sp>
      <p:sp>
        <p:nvSpPr>
          <p:cNvPr id="54" name="rect54"/>
          <p:cNvSpPr/>
          <p:nvPr/>
        </p:nvSpPr>
        <p:spPr>
          <a:xfrm>
            <a:off x="762000" y="3028950"/>
            <a:ext cx="1714500" cy="495300"/>
          </a:xfrm>
          <a:prstGeom prst="rect">
            <a:avLst/>
          </a:prstGeom>
          <a:solidFill>
            <a:srgbClr val="373938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tb55"/>
          <p:cNvSpPr txBox="1"/>
          <p:nvPr/>
        </p:nvSpPr>
        <p:spPr>
          <a:xfrm>
            <a:off x="857250" y="3105150"/>
            <a:ext cx="1524000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200" b="1" dirty="0">
                <a:solidFill>
                  <a:srgbClr val="FFFFFF"/>
                </a:solidFill>
                <a:latin typeface="NanumHuman"/>
                <a:ea typeface="NanumHuman"/>
              </a:rPr>
              <a:t>데모데이 &amp; 투자</a:t>
            </a:r>
          </a:p>
        </p:txBody>
      </p:sp>
      <p:sp>
        <p:nvSpPr>
          <p:cNvPr id="56" name="rect56"/>
          <p:cNvSpPr/>
          <p:nvPr/>
        </p:nvSpPr>
        <p:spPr>
          <a:xfrm>
            <a:off x="2552700" y="3028950"/>
            <a:ext cx="2195513" cy="4953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tb57"/>
          <p:cNvSpPr txBox="1"/>
          <p:nvPr/>
        </p:nvSpPr>
        <p:spPr>
          <a:xfrm>
            <a:off x="2609850" y="3105150"/>
            <a:ext cx="2081213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VC/AC 네트워크</a:t>
            </a:r>
          </a:p>
        </p:txBody>
      </p:sp>
      <p:sp>
        <p:nvSpPr>
          <p:cNvPr id="58" name="rect58"/>
          <p:cNvSpPr/>
          <p:nvPr/>
        </p:nvSpPr>
        <p:spPr>
          <a:xfrm>
            <a:off x="4805363" y="3028950"/>
            <a:ext cx="2195513" cy="4953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tb59"/>
          <p:cNvSpPr txBox="1"/>
          <p:nvPr/>
        </p:nvSpPr>
        <p:spPr>
          <a:xfrm>
            <a:off x="4862513" y="3105150"/>
            <a:ext cx="2081213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전문 심사역 초청</a:t>
            </a:r>
          </a:p>
        </p:txBody>
      </p:sp>
      <p:sp>
        <p:nvSpPr>
          <p:cNvPr id="60" name="rect60"/>
          <p:cNvSpPr/>
          <p:nvPr/>
        </p:nvSpPr>
        <p:spPr>
          <a:xfrm>
            <a:off x="7058025" y="3028950"/>
            <a:ext cx="2195513" cy="4953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b61"/>
          <p:cNvSpPr txBox="1"/>
          <p:nvPr/>
        </p:nvSpPr>
        <p:spPr>
          <a:xfrm>
            <a:off x="7115175" y="3105150"/>
            <a:ext cx="2081213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IR Deck 고도화</a:t>
            </a:r>
          </a:p>
        </p:txBody>
      </p:sp>
      <p:sp>
        <p:nvSpPr>
          <p:cNvPr id="62" name="rect62"/>
          <p:cNvSpPr/>
          <p:nvPr/>
        </p:nvSpPr>
        <p:spPr>
          <a:xfrm>
            <a:off x="9310688" y="3028950"/>
            <a:ext cx="2195513" cy="4953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tb63"/>
          <p:cNvSpPr txBox="1"/>
          <p:nvPr/>
        </p:nvSpPr>
        <p:spPr>
          <a:xfrm>
            <a:off x="9367838" y="3105150"/>
            <a:ext cx="2081213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피칭 트레이닝</a:t>
            </a:r>
          </a:p>
        </p:txBody>
      </p:sp>
      <p:sp>
        <p:nvSpPr>
          <p:cNvPr id="64" name="rect64"/>
          <p:cNvSpPr/>
          <p:nvPr/>
        </p:nvSpPr>
        <p:spPr>
          <a:xfrm>
            <a:off x="762000" y="3581400"/>
            <a:ext cx="1714500" cy="495300"/>
          </a:xfrm>
          <a:prstGeom prst="rect">
            <a:avLst/>
          </a:prstGeom>
          <a:solidFill>
            <a:srgbClr val="373938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tb65"/>
          <p:cNvSpPr txBox="1"/>
          <p:nvPr/>
        </p:nvSpPr>
        <p:spPr>
          <a:xfrm>
            <a:off x="857250" y="3657600"/>
            <a:ext cx="1524000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200" b="1" dirty="0">
                <a:solidFill>
                  <a:srgbClr val="FFFFFF"/>
                </a:solidFill>
                <a:latin typeface="NanumHuman"/>
                <a:ea typeface="NanumHuman"/>
              </a:rPr>
              <a:t>교육 &amp; BM 고도화</a:t>
            </a:r>
          </a:p>
        </p:txBody>
      </p:sp>
      <p:sp>
        <p:nvSpPr>
          <p:cNvPr id="66" name="rect66"/>
          <p:cNvSpPr/>
          <p:nvPr/>
        </p:nvSpPr>
        <p:spPr>
          <a:xfrm>
            <a:off x="2552700" y="3581400"/>
            <a:ext cx="2195513" cy="495300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tb67"/>
          <p:cNvSpPr txBox="1"/>
          <p:nvPr/>
        </p:nvSpPr>
        <p:spPr>
          <a:xfrm>
            <a:off x="2609850" y="3657600"/>
            <a:ext cx="2081213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맞춤형 커리큘럼</a:t>
            </a:r>
          </a:p>
        </p:txBody>
      </p:sp>
      <p:sp>
        <p:nvSpPr>
          <p:cNvPr id="68" name="rect68"/>
          <p:cNvSpPr/>
          <p:nvPr/>
        </p:nvSpPr>
        <p:spPr>
          <a:xfrm>
            <a:off x="4805363" y="3581400"/>
            <a:ext cx="2195513" cy="495300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tb69"/>
          <p:cNvSpPr txBox="1"/>
          <p:nvPr/>
        </p:nvSpPr>
        <p:spPr>
          <a:xfrm>
            <a:off x="4862513" y="3657600"/>
            <a:ext cx="2081213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충남 특화 연계</a:t>
            </a:r>
          </a:p>
        </p:txBody>
      </p:sp>
      <p:sp>
        <p:nvSpPr>
          <p:cNvPr id="70" name="rect70"/>
          <p:cNvSpPr/>
          <p:nvPr/>
        </p:nvSpPr>
        <p:spPr>
          <a:xfrm>
            <a:off x="7058025" y="3581400"/>
            <a:ext cx="2195513" cy="495300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tb71"/>
          <p:cNvSpPr txBox="1"/>
          <p:nvPr/>
        </p:nvSpPr>
        <p:spPr>
          <a:xfrm>
            <a:off x="7115175" y="3657600"/>
            <a:ext cx="2081213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실전형 워크숍</a:t>
            </a:r>
          </a:p>
        </p:txBody>
      </p:sp>
      <p:sp>
        <p:nvSpPr>
          <p:cNvPr id="72" name="rect72"/>
          <p:cNvSpPr/>
          <p:nvPr/>
        </p:nvSpPr>
        <p:spPr>
          <a:xfrm>
            <a:off x="9310688" y="3581400"/>
            <a:ext cx="2195513" cy="495300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tb73"/>
          <p:cNvSpPr txBox="1"/>
          <p:nvPr/>
        </p:nvSpPr>
        <p:spPr>
          <a:xfrm>
            <a:off x="9367838" y="3657600"/>
            <a:ext cx="2081213" cy="3810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1:1 전담 멘토링</a:t>
            </a:r>
          </a:p>
        </p:txBody>
      </p:sp>
      <p:sp>
        <p:nvSpPr>
          <p:cNvPr id="74" name="rect74"/>
          <p:cNvSpPr/>
          <p:nvPr/>
        </p:nvSpPr>
        <p:spPr>
          <a:xfrm>
            <a:off x="762000" y="4229100"/>
            <a:ext cx="10668000" cy="762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tb75"/>
          <p:cNvSpPr txBox="1"/>
          <p:nvPr/>
        </p:nvSpPr>
        <p:spPr>
          <a:xfrm>
            <a:off x="904875" y="4286250"/>
            <a:ext cx="1905000" cy="2286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F05519"/>
                </a:solidFill>
                <a:latin typeface="NanumHuman"/>
                <a:ea typeface="NanumHuman"/>
              </a:rPr>
              <a:t>근거</a:t>
            </a:r>
          </a:p>
        </p:txBody>
      </p:sp>
      <p:sp>
        <p:nvSpPr>
          <p:cNvPr id="76" name="tb76"/>
          <p:cNvSpPr txBox="1"/>
          <p:nvPr/>
        </p:nvSpPr>
        <p:spPr>
          <a:xfrm>
            <a:off x="904875" y="4495800"/>
            <a:ext cx="10382250" cy="457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충남 지역 거점 적극 활용 및 상시 소통 채널 가동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(제안사 운영 계획)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실제 투자 검토가 가능한 전문 심사역(VC/AC) 초청 및 매칭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(제안사 투자 네트워크)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이론 중심이 아닌 실전형 워크숍 및 일대일 전담 멘토링 제공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(제안사 교육 방법론)</a:t>
            </a:r>
          </a:p>
        </p:txBody>
      </p:sp>
      <p:sp>
        <p:nvSpPr>
          <p:cNvPr id="77" name="rect77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tb78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878888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79" name="tb79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878888"/>
                </a:solidFill>
                <a:latin typeface="Poppins"/>
                <a:ea typeface="NanumHuman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b90"/>
          <p:cNvSpPr txBox="1"/>
          <p:nvPr/>
        </p:nvSpPr>
        <p:spPr>
          <a:xfrm>
            <a:off x="762000" y="2667000"/>
            <a:ext cx="952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ctr"/>
            <a:r>
              <a:rPr lang="ko-KR" altLang="en-US" sz="1400" b="1" dirty="0">
                <a:solidFill>
                  <a:srgbClr val="F05519"/>
                </a:solidFill>
                <a:latin typeface="Poppins"/>
                <a:ea typeface="NanumHuman"/>
              </a:rPr>
              <a:t>THANK YOU</a:t>
            </a:r>
          </a:p>
        </p:txBody>
      </p:sp>
      <p:sp>
        <p:nvSpPr>
          <p:cNvPr id="91" name="tb91"/>
          <p:cNvSpPr txBox="1"/>
          <p:nvPr/>
        </p:nvSpPr>
        <p:spPr>
          <a:xfrm>
            <a:off x="762000" y="3143250"/>
            <a:ext cx="9525000" cy="8572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ctr"/>
            <a:r>
              <a:rPr lang="ko-KR" altLang="en-US" sz="4000" b="1" dirty="0">
                <a:solidFill>
                  <a:srgbClr val="FFFFFF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92" name="tb92"/>
          <p:cNvSpPr txBox="1"/>
          <p:nvPr/>
        </p:nvSpPr>
        <p:spPr>
          <a:xfrm>
            <a:off x="762000" y="4095750"/>
            <a:ext cx="952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ctr"/>
            <a:r>
              <a:rPr lang="ko-KR" altLang="en-US" sz="1400" b="0" dirty="0">
                <a:solidFill>
                  <a:srgbClr val="FFFFFF"/>
                </a:solidFill>
                <a:latin typeface="NanumHuman"/>
                <a:ea typeface="NanumHuman"/>
              </a:rPr>
              <a:t>창업가의 페이스 메이커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derdogs">
  <a:themeElements>
    <a:clrScheme name="Underdogs">
      <a:dk1>
        <a:srgbClr val="373938"/>
      </a:dk1>
      <a:lt1>
        <a:srgbClr val="FFFFFF"/>
      </a:lt1>
      <a:dk2>
        <a:srgbClr val="373938"/>
      </a:dk2>
      <a:lt2>
        <a:srgbClr val="D9D9D9"/>
      </a:lt2>
      <a:accent1>
        <a:srgbClr val="F05519"/>
      </a:accent1>
      <a:accent2>
        <a:srgbClr val="F48053"/>
      </a:accent2>
      <a:accent3>
        <a:srgbClr val="878888"/>
      </a:accent3>
      <a:accent4>
        <a:srgbClr val="D8D4D7"/>
      </a:accent4>
      <a:accent5>
        <a:srgbClr val="06A9D0"/>
      </a:accent5>
      <a:accent6>
        <a:srgbClr val="F9BBA3"/>
      </a:accent6>
      <a:hlink>
        <a:srgbClr val="F05519"/>
      </a:hlink>
      <a:folHlink>
        <a:srgbClr val="878888"/>
      </a:folHlink>
    </a:clrScheme>
    <a:fontScheme name="Underdogs">
      <a:majorFont>
        <a:latin typeface="Poppins"/>
        <a:ea typeface="NanumHuman"/>
        <a:cs typeface="NanumHuman"/>
      </a:majorFont>
      <a:minorFont>
        <a:latin typeface="Poppins"/>
        <a:ea typeface="NanumHuman"/>
        <a:cs typeface="NanumHuman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