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81344" y="0"/>
            <a:ext cx="36576" cy="51435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UNDERDOGS EDUCATION PLANNING LECTURE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A1A1A"/>
                </a:solidFill>
                <a:latin typeface="Inter"/>
              </a:rPr>
              <a:t>Designing
1-Night-2-Day
Hackathons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333333"/>
                </a:solidFill>
                <a:latin typeface="Inter"/>
              </a:rPr>
              <a:t>Underdogs Education Planning for
Indonesia · Korea · Japan · Taiwan ·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1430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371600"/>
            <a:ext cx="2468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External Coaches
+ Planning Team
+ 5-Country Partners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4747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Inter"/>
              </a:rPr>
              <a:t>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7033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v1.0  /  April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WHY THIS MATTERS · WORKSHOP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Short-format hackathons are the fastest way to install founder mindset.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333333"/>
                </a:solidFill>
                <a:latin typeface="Inter"/>
              </a:rPr>
              <a:t>By the end of this lecture you can design a 1-night-2-day hackathon that reflects Underdogs' philosophy, localizes to country context, and connects pre-event LMS with post-event batch.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2651760" cy="2331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54864" cy="2331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0487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6517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Long programs lose momentum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154680"/>
            <a:ext cx="23317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3-4 month batches suffer drop-off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Theory without action kills learning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Partners want fast proof of concept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2240280"/>
            <a:ext cx="2651760" cy="2331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2240280"/>
            <a:ext cx="54864" cy="2331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240487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OUR WAGER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6517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36 hours, one competency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3154680"/>
            <a:ext cx="23317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One 5D competency per hackathon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Every 2 hours = visible deliverable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Pre-LMS + 1N2D + post-batch = funnel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240280"/>
            <a:ext cx="2651760" cy="2331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240280"/>
            <a:ext cx="54864" cy="2331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240487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YOUR 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6517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A run-sheet you can 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3154680"/>
            <a:ext cx="23317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8-block template, localized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Coach cue cards per axis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Demo day scorecard 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A · Opening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Six parts, forty-four slides, five country tracks.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02920" cy="4114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3560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Opening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7335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Why 1N2D, goal, agenda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01952"/>
            <a:ext cx="8229600" cy="7315"/>
          </a:xfrm>
          <a:prstGeom prst="rect">
            <a:avLst/>
          </a:prstGeom>
          <a:solidFill>
            <a:srgbClr val="D8D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502920" cy="4114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Inter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9385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Underdogs Planning Lens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17627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Philosophy · Impact Value Chain · 9 methodologies · 5D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04872"/>
            <a:ext cx="8229600" cy="7315"/>
          </a:xfrm>
          <a:prstGeom prst="rect">
            <a:avLst/>
          </a:prstGeom>
          <a:solidFill>
            <a:srgbClr val="D8D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423160"/>
            <a:ext cx="502920" cy="4114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2316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44144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Why 1N2D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67919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Funnel · 8-block template · coaching cadence · rubric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07792"/>
            <a:ext cx="8229600" cy="7315"/>
          </a:xfrm>
          <a:prstGeom prst="rect">
            <a:avLst/>
          </a:prstGeom>
          <a:solidFill>
            <a:srgbClr val="D8D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926080"/>
            <a:ext cx="502920" cy="4114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92608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Inter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9443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5 Country Tracks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18211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Indonesia · KR-Inbound · KR-Outbound · JP+TW · India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10712"/>
            <a:ext cx="8229600" cy="7315"/>
          </a:xfrm>
          <a:prstGeom prst="rect">
            <a:avLst/>
          </a:prstGeom>
          <a:solidFill>
            <a:srgbClr val="D8D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429000"/>
            <a:ext cx="502920" cy="4114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42900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Inter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44728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Facilitator Playbook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68503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Pre-event · Day 1 · Day 2 · cue cards · post-event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13632"/>
            <a:ext cx="8229600" cy="7315"/>
          </a:xfrm>
          <a:prstGeom prst="rect">
            <a:avLst/>
          </a:prstGeom>
          <a:solidFill>
            <a:srgbClr val="D8D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931920"/>
            <a:ext cx="502920" cy="4114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931920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Inter"/>
              </a:rPr>
              <a:t>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395020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Close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187952"/>
            <a:ext cx="6858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Takeaways · resources · Q&amp;A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A · Opening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PART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7589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Inter"/>
              </a:rPr>
              <a:t>The Underdogs planning lens.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D8D4D7"/>
                </a:solidFill>
                <a:latin typeface="Inter"/>
              </a:rPr>
              <a:t>Six principles, one value chain, nine methodologies, five competencies, four tiers of support. Every hackathon we design carries this DNA.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999999"/>
                </a:solidFill>
                <a:latin typeface="Inter"/>
              </a:rPr>
              <a:t>Part B · Planning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999999"/>
                </a:solidFill>
                <a:latin typeface="Inter"/>
              </a:rPr>
              <a:t>(c) 2026 UD Impact Co., Ltd. (Underdogs)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PLANNING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Six principles guide every Underdogs program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150876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" cy="150876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5519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Data flows top-down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Each step inherits prior artifacts via PipelineContext.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2651760" cy="150876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371600"/>
            <a:ext cx="54864" cy="150876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08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5519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737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Assets rise 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240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IMPACT modules, coaches, SROI proxies auto-surface.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371600"/>
            <a:ext cx="2651760" cy="150876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371600"/>
            <a:ext cx="54864" cy="150876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08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5519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7373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AI operates in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240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Never from scratch—always on accumulated signal.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17520"/>
            <a:ext cx="2651760" cy="150876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017520"/>
            <a:ext cx="54864" cy="150876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154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5519"/>
                </a:solidFill>
                <a:latin typeface="Inte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3832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New PMs know the why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8862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Guides, references, warnings embedded per step.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3017520"/>
            <a:ext cx="2651760" cy="150876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3017520"/>
            <a:ext cx="54864" cy="150876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3154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5519"/>
                </a:solidFill>
                <a:latin typeface="Inter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33832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Impact-First on curriculum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8862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Activities auto-extract; AI generates Outcome + Impact.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017520"/>
            <a:ext cx="2651760" cy="150876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3017520"/>
            <a:ext cx="54864" cy="150876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31546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5519"/>
                </a:solidFill>
                <a:latin typeface="Inter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3832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Action Week is non-negotiable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8862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3 theory sessions max before a practice week.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B · Planning Lens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IMPACT VALUE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Input → Activity → Output → Outcome → Impact. Five layers, one causal 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572768" cy="21031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1572768" cy="384048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5727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344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Inter"/>
              </a:rPr>
              <a:t>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134416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Budget · coaches · LMS · 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4540" y="2468880"/>
            <a:ext cx="91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05519"/>
                </a:solidFill>
                <a:latin typeface="Inter"/>
              </a:rPr>
              <a:t>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1408" y="1645920"/>
            <a:ext cx="1572768" cy="21031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21408" y="1645920"/>
            <a:ext cx="1572768" cy="384048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21408" y="1645920"/>
            <a:ext cx="15727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ACTIVITY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2176272"/>
            <a:ext cx="1344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Inter"/>
              </a:rPr>
              <a:t>What we 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468880"/>
            <a:ext cx="134416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1N2D blocks · 1:1 coaching ·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8748" y="2468880"/>
            <a:ext cx="91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05519"/>
                </a:solidFill>
                <a:latin typeface="Inter"/>
              </a:rPr>
              <a:t>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5616" y="1645920"/>
            <a:ext cx="1572768" cy="21031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85616" y="1645920"/>
            <a:ext cx="1572768" cy="384048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85616" y="1645920"/>
            <a:ext cx="15727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22776" y="2176272"/>
            <a:ext cx="1344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Inter"/>
              </a:rPr>
              <a:t>What is produced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2776" y="2468880"/>
            <a:ext cx="134416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MVPs · pitch decks · live URLs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2956" y="2468880"/>
            <a:ext cx="91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05519"/>
                </a:solidFill>
                <a:latin typeface="Inter"/>
              </a:rPr>
              <a:t>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9824" y="1645920"/>
            <a:ext cx="1572768" cy="21031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49824" y="1645920"/>
            <a:ext cx="1572768" cy="384048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49824" y="1645920"/>
            <a:ext cx="15727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OUTCOME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6984" y="2176272"/>
            <a:ext cx="1344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Inter"/>
              </a:rPr>
              <a:t>What changes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86984" y="2468880"/>
            <a:ext cx="134416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5D competency up · team formed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7164" y="2468880"/>
            <a:ext cx="91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05519"/>
                </a:solidFill>
                <a:latin typeface="Inter"/>
              </a:rPr>
              <a:t>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14032" y="1645920"/>
            <a:ext cx="1572768" cy="21031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14032" y="1645920"/>
            <a:ext cx="1572768" cy="384048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14032" y="1645920"/>
            <a:ext cx="15727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IMPACT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1192" y="2176272"/>
            <a:ext cx="1344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Inter"/>
              </a:rPr>
              <a:t>Why it matters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1192" y="2468880"/>
            <a:ext cx="134416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Problem solved · market moved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977639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1">
                <a:solidFill>
                  <a:srgbClr val="333333"/>
                </a:solidFill>
                <a:latin typeface="Inter"/>
              </a:rPr>
              <a:t>5D mapping: Desire + Direction feed Outcome/Impact (why). Discipline + Design feed Activity/Output (how). Durability feeds long-term Impact.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B · Planning Lens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THE "SO WHAT?"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Every idea must survive three "So what?" rounds before pitching.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51760" cy="237744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237744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ROUND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So what... problem?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Who exactly suffers?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How often, how much?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Why now, not 5 years ago?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651760" cy="237744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54864" cy="237744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ROUND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So what... solution?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331720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What's the non-obvious wedge?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Why you vs. incumbents?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Which assumption is riskiest?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2651760" cy="237744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417320"/>
            <a:ext cx="54864" cy="237744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ROUND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So what... impact?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331720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Market size × social ripple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Tied to Outcome layer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Measurable within 12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1">
                <a:solidFill>
                  <a:srgbClr val="333333"/>
                </a:solidFill>
                <a:latin typeface="Inter"/>
              </a:rPr>
              <a:t>If a team cannot answer all three, send them back to the problem deep-dive. Coach time is too expensive to waste on under-specified ideas.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B · Planning Lens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METHODOLOGY IS NOT ONE-SIZE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Nine methodologies. You pick, you don't blend.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8686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" cy="8686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0784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18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Flagship. Impact-first curriculum.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371600"/>
            <a:ext cx="2651760" cy="8686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371600"/>
            <a:ext cx="54864" cy="8686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4630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700784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REGION-FIT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9019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City / province / community anchors.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371600"/>
            <a:ext cx="2651760" cy="8686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371600"/>
            <a:ext cx="54864" cy="8686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4630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Glocal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700784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LOCAL TO GLOBAL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9019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Local problem, global scaling path.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31720"/>
            <a:ext cx="2651760" cy="8686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331720"/>
            <a:ext cx="54864" cy="8686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423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Competition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660904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CONTEST 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86207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Hackathons, demo-day pitches.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2331720"/>
            <a:ext cx="2651760" cy="8686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2331720"/>
            <a:ext cx="54864" cy="8686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2423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Matching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60904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TEAM ASSEMBLY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286207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Cross-discipline cofounder matching.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2331720"/>
            <a:ext cx="2651760" cy="8686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2331720"/>
            <a:ext cx="54864" cy="8686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2423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Re-founding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660904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2ND 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86207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Pivot / exit-driven founders.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291840"/>
            <a:ext cx="2651760" cy="8686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291840"/>
            <a:ext cx="54864" cy="8686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383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Global Entry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621024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MARKET ENTRY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82219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Cross-border expansion tracks.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6120" y="3291840"/>
            <a:ext cx="2651760" cy="8686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46120" y="3291840"/>
            <a:ext cx="54864" cy="8686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29000" y="3383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Small Business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3621024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SOSANG-GONGIN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382219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B2C / local economy operators.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291840"/>
            <a:ext cx="2651760" cy="8686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35040" y="3291840"/>
            <a:ext cx="54864" cy="8686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3383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Custom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3621024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PARTNER-FIT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382219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Tailored per partner brief.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B · Planning Lens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FIVE DIMENSIONS (ACTT EXTENSION)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5D competencies — we measure people, not just products.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229600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1732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4173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417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Observable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19072"/>
            <a:ext cx="8229600" cy="502920"/>
          </a:xfrm>
          <a:prstGeom prst="rect">
            <a:avLst/>
          </a:prstGeom>
          <a:solidFill>
            <a:srgbClr val="F5F0EB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5623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5519"/>
                </a:solidFill>
                <a:latin typeface="Inter"/>
              </a:rPr>
              <a:t>D1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856232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Inter"/>
              </a:rPr>
              <a:t>Desire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85623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Why do you want this?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85623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Clear personal stake / 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21992"/>
            <a:ext cx="82296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35915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5519"/>
                </a:solidFill>
                <a:latin typeface="Inter"/>
              </a:rPr>
              <a:t>D2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359152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Inter"/>
              </a:rPr>
              <a:t>Direction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35915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Where are you going?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35915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Specific goal + near-term milestone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24912"/>
            <a:ext cx="8229600" cy="502920"/>
          </a:xfrm>
          <a:prstGeom prst="rect">
            <a:avLst/>
          </a:prstGeom>
          <a:solidFill>
            <a:srgbClr val="F5F0EB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86207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5519"/>
                </a:solidFill>
                <a:latin typeface="Inter"/>
              </a:rPr>
              <a:t>D3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862072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Inter"/>
              </a:rPr>
              <a:t>Discipline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286207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How do you execute?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286207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Habit + cadence + self-monitoring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27832"/>
            <a:ext cx="82296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36499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5519"/>
                </a:solidFill>
                <a:latin typeface="Inter"/>
              </a:rPr>
              <a:t>D4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364992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Inter"/>
              </a:rPr>
              <a:t>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336499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How do you prototype?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336499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Tests assumption with MVP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30752"/>
            <a:ext cx="8229600" cy="502920"/>
          </a:xfrm>
          <a:prstGeom prst="rect">
            <a:avLst/>
          </a:prstGeom>
          <a:solidFill>
            <a:srgbClr val="F5F0EB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86791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5519"/>
                </a:solidFill>
                <a:latin typeface="Inter"/>
              </a:rPr>
              <a:t>D5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3867912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Inter"/>
              </a:rPr>
              <a:t>Durability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386791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How do you sustain?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3867912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Resilience + learning loop + team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F05519"/>
                </a:solidFill>
                <a:latin typeface="Inter"/>
              </a:rPr>
              <a:t>1N2D rule: install ONE D per hackathon. You cannot teach all five in 36 hours.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B · Planning Lens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4-TIER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Four tiers of support — apply only when the stage calls for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988820" cy="27432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27432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81912"/>
            <a:ext cx="17145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TIER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7145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Cohort education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7145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Async LMS + live workshops</a:t>
            </a:r>
          </a:p>
          <a:p>
            <a:pPr algn="l">
              <a:lnSpc>
                <a:spcPct val="125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Applies to ALL participants</a:t>
            </a:r>
          </a:p>
          <a:p>
            <a:pPr algn="l">
              <a:lnSpc>
                <a:spcPct val="125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1N2D: pre-event 2-3 weeks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37460" y="1417320"/>
            <a:ext cx="1988820" cy="27432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37460" y="1417320"/>
            <a:ext cx="54864" cy="27432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20340" y="1581912"/>
            <a:ext cx="17145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TIER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0340" y="1828800"/>
            <a:ext cx="17145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1:1 coaching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0340" y="2286000"/>
            <a:ext cx="17145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3-4 sessions per team</a:t>
            </a:r>
          </a:p>
          <a:p>
            <a:pPr algn="l">
              <a:lnSpc>
                <a:spcPct val="125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20-30 min per session</a:t>
            </a:r>
          </a:p>
          <a:p>
            <a:pPr algn="l">
              <a:lnSpc>
                <a:spcPct val="125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Applies to selected teams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1417320"/>
            <a:ext cx="1988820" cy="27432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1417320"/>
            <a:ext cx="54864" cy="27432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1581912"/>
            <a:ext cx="17145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TIER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1828800"/>
            <a:ext cx="17145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Batch incubation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286000"/>
            <a:ext cx="17145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3-4 month follow-up</a:t>
            </a:r>
          </a:p>
          <a:p>
            <a:pPr algn="l">
              <a:lnSpc>
                <a:spcPct val="125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Top 10-20% of hackathon teams</a:t>
            </a:r>
          </a:p>
          <a:p>
            <a:pPr algn="l">
              <a:lnSpc>
                <a:spcPct val="125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Milestones + graduation criteria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97980" y="1417320"/>
            <a:ext cx="1988820" cy="27432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97980" y="1417320"/>
            <a:ext cx="54864" cy="27432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0860" y="1581912"/>
            <a:ext cx="17145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TIER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0860" y="1828800"/>
            <a:ext cx="17145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Alliance / fund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0860" y="2286000"/>
            <a:ext cx="17145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VC + partner network</a:t>
            </a:r>
          </a:p>
          <a:p>
            <a:pPr algn="l">
              <a:lnSpc>
                <a:spcPct val="125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Flagship brand treatment</a:t>
            </a:r>
          </a:p>
          <a:p>
            <a:pPr algn="l">
              <a:lnSpc>
                <a:spcPct val="125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For graduates of Tier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B · Planning Lens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EXECUTION-GUARANTEED: ACTION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Three theory sessions in a row trigger an Action Week. No exceptions.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4206240" cy="2743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73152" cy="27432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THE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3840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Inter"/>
              </a:rPr>
              <a:t>If curriculum stacks 3 consecutive theory sessions, insert Action Week — a hands-on block where teams apply, not absorb.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D8D4D7"/>
                </a:solidFill>
                <a:latin typeface="Inter"/>
              </a:rPr>
              <a:t>The system warns the PM automatically when the trigger fires.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417320"/>
            <a:ext cx="3840480" cy="27432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417320"/>
            <a:ext cx="54864" cy="27432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5544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IN A 1N2D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74519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F05519"/>
                </a:solidFill>
                <a:latin typeface="Inter"/>
              </a:rPr>
              <a:t>■  </a:t>
            </a:r>
            <a:r>
              <a:rPr sz="1100">
                <a:solidFill>
                  <a:srgbClr val="333333"/>
                </a:solidFill>
                <a:latin typeface="Inter"/>
              </a:rPr>
              <a:t>Max 45 min lecture per 3-hour block</a:t>
            </a:r>
          </a:p>
          <a:p>
            <a:pPr algn="l">
              <a:lnSpc>
                <a:spcPct val="135000"/>
              </a:lnSpc>
            </a:pPr>
            <a:r>
              <a:rPr sz="1100" b="1">
                <a:solidFill>
                  <a:srgbClr val="F05519"/>
                </a:solidFill>
                <a:latin typeface="Inter"/>
              </a:rPr>
              <a:t>■  </a:t>
            </a:r>
            <a:r>
              <a:rPr sz="1100">
                <a:solidFill>
                  <a:srgbClr val="333333"/>
                </a:solidFill>
                <a:latin typeface="Inter"/>
              </a:rPr>
              <a:t>Each block must close with a visible deliverable</a:t>
            </a:r>
          </a:p>
          <a:p>
            <a:pPr algn="l">
              <a:lnSpc>
                <a:spcPct val="135000"/>
              </a:lnSpc>
            </a:pPr>
            <a:r>
              <a:rPr sz="1100" b="1">
                <a:solidFill>
                  <a:srgbClr val="F05519"/>
                </a:solidFill>
                <a:latin typeface="Inter"/>
              </a:rPr>
              <a:t>■  </a:t>
            </a:r>
            <a:r>
              <a:rPr sz="1100">
                <a:solidFill>
                  <a:srgbClr val="333333"/>
                </a:solidFill>
                <a:latin typeface="Inter"/>
              </a:rPr>
              <a:t>Coaching time ≥ lecture time</a:t>
            </a:r>
          </a:p>
          <a:p>
            <a:pPr algn="l">
              <a:lnSpc>
                <a:spcPct val="135000"/>
              </a:lnSpc>
            </a:pPr>
            <a:r>
              <a:rPr sz="1100" b="1">
                <a:solidFill>
                  <a:srgbClr val="F05519"/>
                </a:solidFill>
                <a:latin typeface="Inter"/>
              </a:rPr>
              <a:t>■  </a:t>
            </a:r>
            <a:r>
              <a:rPr sz="1100">
                <a:solidFill>
                  <a:srgbClr val="333333"/>
                </a:solidFill>
                <a:latin typeface="Inter"/>
              </a:rPr>
              <a:t>If concept-heavy, move to pre-LMS</a:t>
            </a:r>
          </a:p>
          <a:p>
            <a:pPr algn="l">
              <a:lnSpc>
                <a:spcPct val="135000"/>
              </a:lnSpc>
            </a:pPr>
            <a:r>
              <a:rPr sz="1100" b="1">
                <a:solidFill>
                  <a:srgbClr val="F05519"/>
                </a:solidFill>
                <a:latin typeface="Inter"/>
              </a:rPr>
              <a:t>■  </a:t>
            </a:r>
            <a:r>
              <a:rPr sz="1100">
                <a:solidFill>
                  <a:srgbClr val="333333"/>
                </a:solidFill>
                <a:latin typeface="Inter"/>
              </a:rPr>
              <a:t>On-site time is for building, not listening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B · Planning Lens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QUANTITATIVE SATURATION + SECTION V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Numbers everywhere. No claim without a figure.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295400" cy="1188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1188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21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05519"/>
                </a:solidFill>
                <a:latin typeface="Inter"/>
              </a:rPr>
              <a:t>520+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2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Global partners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4040" y="1417320"/>
            <a:ext cx="1295400" cy="1188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44040" y="1417320"/>
            <a:ext cx="54864" cy="1188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6920" y="1554480"/>
            <a:ext cx="1021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05519"/>
                </a:solidFill>
                <a:latin typeface="Inter"/>
              </a:rPr>
              <a:t>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6920" y="2194560"/>
            <a:ext cx="102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Coach pool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0880" y="1417320"/>
            <a:ext cx="1295400" cy="1188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30880" y="1417320"/>
            <a:ext cx="54864" cy="1188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3760" y="1554480"/>
            <a:ext cx="1021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05519"/>
                </a:solidFill>
                <a:latin typeface="Inter"/>
              </a:rPr>
              <a:t>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3760" y="2194560"/>
            <a:ext cx="102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IMPACT modules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1417320"/>
            <a:ext cx="1295400" cy="1188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1417320"/>
            <a:ext cx="54864" cy="1188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554480"/>
            <a:ext cx="1021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05519"/>
                </a:solidFill>
                <a:latin typeface="Inter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2194560"/>
            <a:ext cx="102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Methodologies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4560" y="1417320"/>
            <a:ext cx="1295400" cy="1188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04560" y="1417320"/>
            <a:ext cx="54864" cy="1188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7440" y="1554480"/>
            <a:ext cx="1021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05519"/>
                </a:solidFill>
                <a:latin typeface="Inter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7440" y="2194560"/>
            <a:ext cx="102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5D competencies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91400" y="1417320"/>
            <a:ext cx="1295400" cy="1188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91400" y="1417320"/>
            <a:ext cx="54864" cy="1188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74280" y="1554480"/>
            <a:ext cx="1021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05519"/>
                </a:solidFill>
                <a:latin typeface="Inter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4280" y="2194560"/>
            <a:ext cx="102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Support tiers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880360"/>
            <a:ext cx="8229600" cy="14173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2880360"/>
            <a:ext cx="73152" cy="14173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01752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SECTION V BONUS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29184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FFFFFF"/>
                </a:solidFill>
                <a:latin typeface="Inter"/>
              </a:rPr>
              <a:t>Top proposals reserve a Section V — beyond-the-brief moves: new partners, new tracks, new validation instruments. Judges remember the team that exceeded scope.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B · Planning Lens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PART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7589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Inter"/>
              </a:rPr>
              <a:t>Why 1-night-2-day 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D8D4D7"/>
                </a:solidFill>
                <a:latin typeface="Inter"/>
              </a:rPr>
              <a:t>Short-format forces focus. The funnel makes it rigorous. The 8-block template makes it repeatable. The rubric makes it fair.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999999"/>
                </a:solidFill>
                <a:latin typeface="Inter"/>
              </a:rPr>
              <a:t>Part C · Why 1N2D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999999"/>
                </a:solidFill>
                <a:latin typeface="Inter"/>
              </a:rPr>
              <a:t>(c) 2026 UD Impact Co., Ltd. (Underdogs)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SHORT-FORMAT VS LONG-FORMAT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Short-format trades depth for momentum — and momentum wins at Stage 1.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977640" cy="30175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30175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00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Long-format (3-4 months)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84248"/>
            <a:ext cx="365760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Deep validation, real customers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Drop-off 40-60% common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Commitment bar high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Requires proven teams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Expensive per-participant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17320"/>
            <a:ext cx="3977640" cy="30175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17320"/>
            <a:ext cx="54864" cy="30175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0328" y="1600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Short-format (1N2D · 36h)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1984248"/>
            <a:ext cx="365760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Forced completion, visible output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Drop-off near zero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Low commitment to enter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Reveals 5D signals quickly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Cheap to run at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333333"/>
                </a:solidFill>
                <a:latin typeface="Inter"/>
              </a:rPr>
              <a:t>Underdogs uses both. 1N2D is the screening + activation layer; the batch program does the depth work.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C · Why 1N2D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THE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Pre-LMS → 1N2D → Follow-up batch. The hackathon is the middle, not the whole.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21280" cy="283464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621280" cy="4572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90472"/>
            <a:ext cx="2346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Pre-event 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2346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2-3 WEEKS ASYNC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2346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5-8 video modules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3-5 readings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Pre-arrival exercise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Team formation hint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6768" y="2651760"/>
            <a:ext cx="164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05519"/>
                </a:solidFill>
                <a:latin typeface="Inter"/>
              </a:rPr>
              <a:t>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1360" y="1417320"/>
            <a:ext cx="2621280" cy="283464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1360" y="1417320"/>
            <a:ext cx="2621280" cy="4572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4240" y="1490472"/>
            <a:ext cx="2346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1N2D hackathon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4240" y="2103120"/>
            <a:ext cx="2346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36 HOURS ON-SITE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4240" y="2423160"/>
            <a:ext cx="2346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8 blocks Day 1 + 2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3-4 coach 1:1s per team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Demo day + scorecard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Awards ceremony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0928" y="2651760"/>
            <a:ext cx="164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05519"/>
                </a:solidFill>
                <a:latin typeface="Inter"/>
              </a:rPr>
              <a:t>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65520" y="1417320"/>
            <a:ext cx="2621280" cy="283464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65520" y="1417320"/>
            <a:ext cx="2621280" cy="4572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8400" y="1490472"/>
            <a:ext cx="2346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Inter"/>
              </a:rPr>
              <a:t>Follow-up batch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8400" y="2103120"/>
            <a:ext cx="2346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2-8 WEEKS → 3-4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8400" y="2423160"/>
            <a:ext cx="23469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1-pager report every team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Top 10-20% → Stage 2 batch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Alumni quarterly check-in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Alliance / fund for Stage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C · Why 1N2D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ENGAGEMENT TECHNIQUES FOR 24+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Seven techniques keep energy high across 36 hours.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51760" cy="100584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100584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2704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Milestone compression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082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Every 2-hour block has a visible deliverable.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651760" cy="100584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54864" cy="100584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2704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7465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1:1 coaching density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02082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3-4 sessions per team, 20-30 min each.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2651760" cy="100584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417320"/>
            <a:ext cx="54864" cy="100584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2704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7465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Peer accountability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02082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Public daily standup — 2 min per team.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560320"/>
            <a:ext cx="2651760" cy="100584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560320"/>
            <a:ext cx="54864" cy="100584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67004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8895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Immersive environment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16382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Dinner together, optional overnight on-site.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2560320"/>
            <a:ext cx="2651760" cy="100584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2560320"/>
            <a:ext cx="54864" cy="100584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267004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8895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Physical artifact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16382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Every team produces tangible output (poster / URL).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2560320"/>
            <a:ext cx="2651760" cy="100584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2560320"/>
            <a:ext cx="54864" cy="100584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267004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8895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Public 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16382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External judges, not just internal coaches.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703320"/>
            <a:ext cx="2651760" cy="100584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703320"/>
            <a:ext cx="54864" cy="100584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81304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0325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Celebration ritual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30682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Award ceremony, group photo, post-event social.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C · Why 1N2D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THE 8-BLOCK 1N2D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Eight blocks — five on Day 1, three on Day 2. Every block closes with an artifact.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954530" cy="13258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954530" cy="329184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538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Inter"/>
              </a:rPr>
              <a:t>B1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63040"/>
            <a:ext cx="13144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Inter"/>
              </a:rPr>
              <a:t>D1 · 09-10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17259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Inter"/>
              </a:rPr>
              <a:t>Opening + Icebreaker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72593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F05519"/>
                </a:solidFill>
                <a:latin typeface="Inter"/>
              </a:rPr>
              <a:t>Out: Team norms + intros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8890" y="1417320"/>
            <a:ext cx="1954530" cy="13258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48890" y="1417320"/>
            <a:ext cx="1954530" cy="329184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6050" y="14538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Inter"/>
              </a:rPr>
              <a:t>B2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7530" y="1463040"/>
            <a:ext cx="13144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Inter"/>
              </a:rPr>
              <a:t>D1 · 10-12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6050" y="1828800"/>
            <a:ext cx="17259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Inter"/>
              </a:rPr>
              <a:t>Problem deep-dive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6050" y="2286000"/>
            <a:ext cx="172593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F05519"/>
                </a:solidFill>
                <a:latin typeface="Inter"/>
              </a:rPr>
              <a:t>Out: Problem statement v1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40580" y="1417320"/>
            <a:ext cx="1954530" cy="13258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40580" y="1417320"/>
            <a:ext cx="1954530" cy="329184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7740" y="14538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Inter"/>
              </a:rPr>
              <a:t>B3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9220" y="1463040"/>
            <a:ext cx="13144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Inter"/>
              </a:rPr>
              <a:t>D1 · 13-15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7740" y="1828800"/>
            <a:ext cx="17259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Inter"/>
              </a:rPr>
              <a:t>Team + Ideation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7740" y="2286000"/>
            <a:ext cx="172593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F05519"/>
                </a:solidFill>
                <a:latin typeface="Inter"/>
              </a:rPr>
              <a:t>Out: Team locked + idea v1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32270" y="1417320"/>
            <a:ext cx="1954530" cy="13258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32270" y="1417320"/>
            <a:ext cx="1954530" cy="329184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69430" y="14538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Inter"/>
              </a:rPr>
              <a:t>B4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0910" y="1463040"/>
            <a:ext cx="13144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Inter"/>
              </a:rPr>
              <a:t>D1 · 15-18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69430" y="1828800"/>
            <a:ext cx="17259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Inter"/>
              </a:rPr>
              <a:t>MVP sprint #1 + 1:1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69430" y="2286000"/>
            <a:ext cx="172593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F05519"/>
                </a:solidFill>
                <a:latin typeface="Inter"/>
              </a:rPr>
              <a:t>Out: First prototype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880360"/>
            <a:ext cx="1954530" cy="13258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2880360"/>
            <a:ext cx="1954530" cy="329184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29169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Inter"/>
              </a:rPr>
              <a:t>B5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926080"/>
            <a:ext cx="13144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Inter"/>
              </a:rPr>
              <a:t>D1 · 19-22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3291840"/>
            <a:ext cx="17259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Inter"/>
              </a:rPr>
              <a:t>Evening sprint + dinner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749040"/>
            <a:ext cx="172593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F05519"/>
                </a:solidFill>
                <a:latin typeface="Inter"/>
              </a:rPr>
              <a:t>Out: Rough demo ready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48890" y="2880360"/>
            <a:ext cx="1954530" cy="13258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48890" y="2880360"/>
            <a:ext cx="1954530" cy="329184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86050" y="29169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Inter"/>
              </a:rPr>
              <a:t>B6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97530" y="2926080"/>
            <a:ext cx="13144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Inter"/>
              </a:rPr>
              <a:t>D2 · 08-10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86050" y="3291840"/>
            <a:ext cx="17259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Inter"/>
              </a:rPr>
              <a:t>MVP sprint #2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86050" y="3749040"/>
            <a:ext cx="172593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F05519"/>
                </a:solidFill>
                <a:latin typeface="Inter"/>
              </a:rPr>
              <a:t>Out: Polished prototype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40580" y="2880360"/>
            <a:ext cx="1954530" cy="13258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40580" y="2880360"/>
            <a:ext cx="1954530" cy="329184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77740" y="29169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Inter"/>
              </a:rPr>
              <a:t>B7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89220" y="2926080"/>
            <a:ext cx="13144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Inter"/>
              </a:rPr>
              <a:t>D2 · 10-12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77740" y="3291840"/>
            <a:ext cx="17259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Inter"/>
              </a:rPr>
              <a:t>Dry-run + feedback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77740" y="3749040"/>
            <a:ext cx="172593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F05519"/>
                </a:solidFill>
                <a:latin typeface="Inter"/>
              </a:rPr>
              <a:t>Out: Revised pitch deck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32270" y="2880360"/>
            <a:ext cx="1954530" cy="13258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2270" y="2880360"/>
            <a:ext cx="1954530" cy="329184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69430" y="29169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Inter"/>
              </a:rPr>
              <a:t>B8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80910" y="2926080"/>
            <a:ext cx="13144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Inter"/>
              </a:rPr>
              <a:t>D2 · 13-15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69430" y="3291840"/>
            <a:ext cx="17259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Inter"/>
              </a:rPr>
              <a:t>Demo day + awards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69430" y="3749040"/>
            <a:ext cx="172593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F05519"/>
                </a:solidFill>
                <a:latin typeface="Inter"/>
              </a:rPr>
              <a:t>Out: 5-min pitch + award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C · Why 1N2D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COACHING CADENCE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Three to four 1:1 sessions per team. Each session has a named purpose.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8229600" cy="713232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713232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SESSION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Block B4 · ~15:30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527048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Problem + idea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527048"/>
            <a:ext cx="40233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Stress-test problem. Kill weak hypotheses. Assign riskiest assumption.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03704"/>
            <a:ext cx="8229600" cy="713232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03704"/>
            <a:ext cx="54864" cy="713232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9514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SESSION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3288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Block B5 · ~20:30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313432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MVP 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313432"/>
            <a:ext cx="40233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Choose validation instrument. Scope to 90-min buildable.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90088"/>
            <a:ext cx="8229600" cy="713232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990088"/>
            <a:ext cx="54864" cy="713232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081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SESSION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1927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Block B6 · ~09:00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0998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Execution unblocking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099816"/>
            <a:ext cx="40233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Fix blocker. Re-scope if off-track. Protect the demo.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76472"/>
            <a:ext cx="8229600" cy="713232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776472"/>
            <a:ext cx="54864" cy="713232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6791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SESSION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1056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Block B7 · ~11:00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88620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Pitch coaching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886200"/>
            <a:ext cx="40233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Deck order. Opening hook. Handle the hardest question.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333333"/>
                </a:solidFill>
                <a:latin typeface="Inter"/>
              </a:rPr>
              <a:t>Benchmark from SU Team: 800 total 1:1 sessions across 150 teams proves the density model.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C · Why 1N2D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ASSESSMENT RUBRIC (FROM SU TEAM)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Four axes, 25% each. Three judges. No hidden criteria.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954530" cy="219456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219456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6802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05519"/>
                </a:solidFill>
                <a:latin typeface="Inter"/>
              </a:rP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6802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Idea specificity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168021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Is the problem concrete? Is the insight non-obvious?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48890" y="1417320"/>
            <a:ext cx="1954530" cy="219456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48890" y="1417320"/>
            <a:ext cx="54864" cy="219456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31770" y="1554480"/>
            <a:ext cx="16802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05519"/>
                </a:solidFill>
                <a:latin typeface="Inter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1770" y="2194560"/>
            <a:ext cx="16802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BM completeness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1770" y="2651760"/>
            <a:ext cx="168021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Who pays, how much, via what channel? Unit economics?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0580" y="1417320"/>
            <a:ext cx="1954530" cy="219456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40580" y="1417320"/>
            <a:ext cx="54864" cy="219456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3460" y="1554480"/>
            <a:ext cx="16802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05519"/>
                </a:solidFill>
                <a:latin typeface="Inter"/>
              </a:rP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3460" y="2194560"/>
            <a:ext cx="16802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Growth potential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3460" y="2651760"/>
            <a:ext cx="168021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Can this 10x? What is the wedge + expansion path?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32270" y="1417320"/>
            <a:ext cx="1954530" cy="219456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32270" y="1417320"/>
            <a:ext cx="54864" cy="219456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15150" y="1554480"/>
            <a:ext cx="16802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05519"/>
                </a:solidFill>
                <a:latin typeface="Inter"/>
              </a:rPr>
              <a:t>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5150" y="2194560"/>
            <a:ext cx="16802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5150" y="2651760"/>
            <a:ext cx="168021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Market size × social/economic ripple. Tied to Outcome.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840480"/>
            <a:ext cx="73152" cy="6400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931920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JURY COMPOSITION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16052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Inter"/>
              </a:rPr>
              <a:t>3 people = 1 public-sector expert  +  1 private-sector expert  +  1 Underdogs coach.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C · Why 1N2D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PART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7589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Inter"/>
              </a:rPr>
              <a:t>Same philosophy, different operating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D8D4D7"/>
                </a:solidFill>
                <a:latin typeface="Inter"/>
              </a:rPr>
              <a:t>Five country tracks — Indonesia, Korea Inbound, Korea Outbound, Japan+Taiwan, India. Each gets three slides plus one comparison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999999"/>
                </a:solidFill>
                <a:latin typeface="Inter"/>
              </a:rPr>
              <a:t>Part D · Country Tracks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999999"/>
                </a:solidFill>
                <a:latin typeface="Inter"/>
              </a:rPr>
              <a:t>(c) 2026 UD Impact Co., Ltd. (Underdogs)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TRACK 01 · INDONESIA (BSD CITY)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Indonesia · BSD City — a 500k-resident Living Lab for student founders.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51760" cy="219456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219456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ANCHOR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BSD City · Tangerang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2331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10,000 ha planned city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500,000 residents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Indonesia's official Living Lab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651760" cy="219456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54864" cy="219456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PARTNERS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Sinarmas + LLV + 7 universities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331720"/>
            <a:ext cx="2331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Monash Indonesia · Prasmul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BINUS · Atma Jaya BSD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ITTS · BSI · UIC College BSD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2651760" cy="219456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417320"/>
            <a:ext cx="54864" cy="219456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FUNNEL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Stage 1 → 2 →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331720"/>
            <a:ext cx="2331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S1: 1N2D hackathon (PoC)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S2: 3-4 month batch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S3: Alliance + joint fund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49039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333"/>
                </a:solidFill>
                <a:latin typeface="Inter"/>
              </a:rPr>
              <a:t>Operating mode: Bilingual EN + Bahasa Indonesia. PoC discipline: "Maximum Validation with Minimum Resources." Methodology: IMPACT + Local adaptation.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D · Indonesia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INDONESIA · PROBLEM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Teams pick one of six BSD-anchored impact tracks.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51760" cy="1188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1188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0136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Urban Mobility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Traffic, last-mile, EV infrastructure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651760" cy="1188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54864" cy="1188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5448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0136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Health &amp; Biomedical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1945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KEK ETKI special zone · aging care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2651760" cy="1188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417320"/>
            <a:ext cx="54864" cy="1188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5448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0136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Green &amp; Sustainability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1945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Green Habit since 2017 · waste loops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43200"/>
            <a:ext cx="2651760" cy="1188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743200"/>
            <a:ext cx="54864" cy="1188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88036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1272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Digital Inclusion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204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Apple Academy · Purwadhika · access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2743200"/>
            <a:ext cx="2651760" cy="1188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2743200"/>
            <a:ext cx="54864" cy="1188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288036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31272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UMKM &amp; Local Economy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5204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65.5M MSMEs nationally · B2B enablement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2743200"/>
            <a:ext cx="2651760" cy="1188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2743200"/>
            <a:ext cx="54864" cy="1188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288036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1272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Education Access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5204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K-12 + HE · language + cost barriers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D · Indonesia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INDONESIA ·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Operating model: bilingual delivery, coach-partner boundary, field-lab posture.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51760" cy="22860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22860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PRE-EVENT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2-3 weeks async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Bilingual LMS (EN + ID)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Track-specific reading kit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Problem-selection exercise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Team-formation survey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651760" cy="22860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54864" cy="22860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ON-SITE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1N2D at BSD 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33172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Field visits in BSD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LLV / Sinarmas mentors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Customer interviews in-city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Bilingual dual-track coaching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2651760" cy="22860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417320"/>
            <a:ext cx="54864" cy="22860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POST-EVENT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Funnel handoff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33172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Top teams → Stage 2 batch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University alumni network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LLV fund pipeline meeting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Report back to Sinarmas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333333"/>
                </a:solidFill>
                <a:latin typeface="Inter"/>
              </a:rPr>
              <a:t>Coach-partner boundary rule: Underdogs coaches own methodology + 1:1 coaching; local partners own venue, judges, and follow-up fund intros. Write the boundary into the coach brief.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D · Indonesia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TRACK 02 · KOREA INBOUND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Korea Inbound — foreign students starting up inside Korea.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51760" cy="22860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22860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International students in KR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Undergrad + grad in KR universities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Intent: launch IN Korea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Often pre-team, pre-idea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651760" cy="22860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54864" cy="22860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CORE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K-market localization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33172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Language barrier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Regulatory + visa friction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Funding access (TIPS, KISED)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2651760" cy="22860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417320"/>
            <a:ext cx="54864" cy="22860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THEME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K-Market Entry for Foreign Founders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33172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Reverse glocal posture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Leverage alumni foreign-origin founders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Korean mentor pool essential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333"/>
                </a:solidFill>
                <a:latin typeface="Inter"/>
              </a:rPr>
              <a:t>Methodology: IMPACT + Small Business (for B2C/local) OR Global Entry reversed — they are the "global" founders entering KR.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D · Korea Inbound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KOREA INBOUND ·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Pre-event teaches the ecosystem; on-site teaches the pitch.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977640" cy="30175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30175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00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Pre-event LMS (2-3 weeks)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84248"/>
            <a:ext cx="365760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Korean startup ecosystem basics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KOREA-VISA for founders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TIPS + KISED program overview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K-market consumer behavior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Alumni founder case studies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17320"/>
            <a:ext cx="3977640" cy="30175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17320"/>
            <a:ext cx="54864" cy="30175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0328" y="1600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Special resources on-site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1984248"/>
            <a:ext cx="365760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Korean mentor pool (local)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Foreign-origin alumni founders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Bilingual 1:1 coaching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K-market field interviews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VC intros (post-demo)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D · Korea Inbound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KOREA INBOUND · DAY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Day flow emphasizes regulatory + cultural nuance every coach must surface.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51760" cy="24688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24688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DAY 1 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Problem in Korean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Interview 2 Koreans on block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Visa / biz-reg constraints in scope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Price / channel norms drilled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651760" cy="24688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54864" cy="24688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DAY 1 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Prototype with K-UX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33172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Korean-language UI sketch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Payment method (Toss, KakaoPay)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Coach: localization gotchas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2651760" cy="24688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417320"/>
            <a:ext cx="54864" cy="24688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DAY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Pitch for K-judges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33172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Korean + English dual deck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TIPS/KISED fit articulated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Judge: 1 KR VC + 1 policy + 1 Underdogs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D · Korea Inbound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TRACK 03 · KOREA OUTBOUND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Korea Outbound — Korean teams born global from Day 1.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51760" cy="22860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22860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Korean teams expanding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Already have KR traction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Eyeing JP / SE Asia / India / US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Need target-market discovery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651760" cy="22860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54864" cy="22860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CORE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Cross-border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33172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Target-market discovery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Local partner mapping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Cross-cultural team formation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2651760" cy="22860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417320"/>
            <a:ext cx="54864" cy="22860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THEME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Born Global from Day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33172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Methodology: Global Entry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Underdogs JP / India branches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520+ global partner 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D · Korea Outbound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KOREA OUTBOUND · MARKET PRIMERS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Pre-event primers by destination market. Teams pick their primer.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954530" cy="20116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20116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6802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05519"/>
                </a:solidFill>
                <a:latin typeface="Inter"/>
              </a:rPr>
              <a:t>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6802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Japan primer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68021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Regulatory caution · trust-building · sales cycles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48890" y="1417320"/>
            <a:ext cx="1954530" cy="20116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48890" y="1417320"/>
            <a:ext cx="54864" cy="20116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31770" y="1554480"/>
            <a:ext cx="16802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05519"/>
                </a:solidFill>
                <a:latin typeface="Inter"/>
              </a:rPr>
              <a:t>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1770" y="2148840"/>
            <a:ext cx="16802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Indonesia primer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1770" y="2606040"/>
            <a:ext cx="168021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500k-city living labs · MSME · Bahasa UX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0580" y="1417320"/>
            <a:ext cx="1954530" cy="20116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40580" y="1417320"/>
            <a:ext cx="54864" cy="20116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3460" y="1554480"/>
            <a:ext cx="16802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05519"/>
                </a:solidFill>
                <a:latin typeface="Inter"/>
              </a:rPr>
              <a:t>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3460" y="2148840"/>
            <a:ext cx="16802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India primer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3460" y="2606040"/>
            <a:ext cx="168021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Scale economics · UPI / Aadhaar · regional divide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32270" y="1417320"/>
            <a:ext cx="1954530" cy="20116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32270" y="1417320"/>
            <a:ext cx="54864" cy="20116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15150" y="1554480"/>
            <a:ext cx="16802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05519"/>
                </a:solidFill>
                <a:latin typeface="Inter"/>
              </a:rPr>
              <a:t>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5150" y="2148840"/>
            <a:ext cx="168021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US primer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5150" y="2606040"/>
            <a:ext cx="168021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GTM velocity · seed terms · B2B SaaS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749039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333333"/>
                </a:solidFill>
                <a:latin typeface="Inter"/>
              </a:rPr>
              <a:t>On-site: dedicated coach per target market. Demo day judge panel includes one investor from the team's target market whenever possible.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D · Korea Outbound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KOREA OUTBOUND · PARTNER LEVERAGE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520+ global partners are the outbound team's unfair advantage.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51760" cy="24688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24688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Warm intros pre-event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Partner list matched to target market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2-3 intro calls in pre-LMS weeks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Customer interview letters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651760" cy="24688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54864" cy="24688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DURING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Mentors on-site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33172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1 partner mentor per region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Judges drawn from network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Real-time market feedback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2651760" cy="24688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417320"/>
            <a:ext cx="54864" cy="24688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Landing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33172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Underdogs JP / India landing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Local coach handoff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Batch program (Tier 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D · Korea Outbound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TRACK 04 · JAPAN + TAIWAN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Japan + Taiwan — East Asian social problems, one curated pool.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51760" cy="22860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22860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ANCHOR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Musashino Univ.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Faculty of Entrepreneurship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Tokyo 10x10x10 vision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Gov-private co-judged panels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651760" cy="22860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54864" cy="22860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ANCHOR TW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Taichung Social Innovation 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33172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7,000+ learner-contacts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350+ teams incubated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60+ award-winning teams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2651760" cy="22860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417320"/>
            <a:ext cx="54864" cy="22860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FRAME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Common East-Asian problems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33172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Aging society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Environment + climate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Regional depopulation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333333"/>
                </a:solidFill>
                <a:latin typeface="Inter"/>
              </a:rPr>
              <a:t>Methodology: Matching + Custom (social-enterprise oriented). Deliverable bar: BM with a validation plan attached.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D · Japan + Taiwan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JAPAN + TAIWAN · PROBLEM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Four problem categories. Teams pick one and commit.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954530" cy="22860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22860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680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68021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A1A"/>
                </a:solidFill>
                <a:latin typeface="Inter"/>
              </a:rPr>
              <a:t>Aging Society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68021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Eldercare workforce · loneliness · dementia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48890" y="1417320"/>
            <a:ext cx="1954530" cy="22860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48890" y="1417320"/>
            <a:ext cx="54864" cy="22860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31770" y="1554480"/>
            <a:ext cx="1680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1770" y="1828800"/>
            <a:ext cx="168021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A1A"/>
                </a:solidFill>
                <a:latin typeface="Inter"/>
              </a:rPr>
              <a:t>Environment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1770" y="2606040"/>
            <a:ext cx="168021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Waste loops · water · urban biodiversity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0580" y="1417320"/>
            <a:ext cx="1954530" cy="22860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40580" y="1417320"/>
            <a:ext cx="54864" cy="22860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3460" y="1554480"/>
            <a:ext cx="1680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3460" y="1828800"/>
            <a:ext cx="168021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A1A"/>
                </a:solidFill>
                <a:latin typeface="Inter"/>
              </a:rPr>
              <a:t>Regional Depopulation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3460" y="2606040"/>
            <a:ext cx="168021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Empty towns · services · young talent return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32270" y="1417320"/>
            <a:ext cx="1954530" cy="22860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32270" y="1417320"/>
            <a:ext cx="54864" cy="22860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15150" y="1554480"/>
            <a:ext cx="1680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5150" y="1828800"/>
            <a:ext cx="168021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A1A"/>
                </a:solidFill>
                <a:latin typeface="Inter"/>
              </a:rPr>
              <a:t>Climate 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5150" y="2606040"/>
            <a:ext cx="168021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Green GX · disaster prep · food resilience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D · Japan + Taiwan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JAPAN + TAIWAN · SU TEAM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Inherit EASI LEAGUE's 4-axis rubric and 3-4 coach cadence.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51760" cy="24688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24688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JUDGING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4-axis rubric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Idea specificity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BM completeness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Growth potential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Impact (market + social)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651760" cy="24688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54864" cy="24688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COACHING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3-4 sessions /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33172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Benchmark: 800 1:1 for 150 teams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Gov + private co-mentors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Local coach is table stakes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2651760" cy="24688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417320"/>
            <a:ext cx="54864" cy="24688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BM + validation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33172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No idea-only pitches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Customer-interview log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Next 30-day validation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D · Japan + Taiwan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TRACK 05 · INDIA (ACTION AI)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India · Action AI — launchpad, not course. Live URL by Day 1 end.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51760" cy="22860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22860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Action AI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Fin-Act track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AI Literacy track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Sold to universities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651760" cy="22860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54864" cy="22860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PHILOSOPHY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Many founders, not few unicorns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33172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One 5D per 1N2D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Chosen D: D4 Design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MVP prototyping focus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2651760" cy="228600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417320"/>
            <a:ext cx="54864" cy="22860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AI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Free-tier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33172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Gemini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Lovable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Claude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333333"/>
                </a:solidFill>
                <a:latin typeface="Inter"/>
              </a:rPr>
              <a:t>Operating mode: "Not a course, a launchpad." Every team ships a live product URL before Day 1 closes.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D · India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INDIA · ACTION AI TRACK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Six Action AI tracks. Teams pick one at registration.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51760" cy="1188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1188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Access &amp; Regional Divide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2199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Language + connectivity + rural-urban gap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651760" cy="1188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54864" cy="1188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55448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7830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AI × Senior Life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22199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Eldercare · companionship · health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2651760" cy="1188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417320"/>
            <a:ext cx="54864" cy="1188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5448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7830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Industrial Transformation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22199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Manufacturing · logistics · MSME tooling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43200"/>
            <a:ext cx="2651760" cy="1188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743200"/>
            <a:ext cx="54864" cy="1188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88036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1089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Everyday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4787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Women safety · road · emergency response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2743200"/>
            <a:ext cx="2651760" cy="1188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46120" y="2743200"/>
            <a:ext cx="54864" cy="1188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288036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31089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Climate &amp; Circular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354787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Waste loops · solar · water resilience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2743200"/>
            <a:ext cx="2651760" cy="118872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35040" y="2743200"/>
            <a:ext cx="54864" cy="11887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288036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1089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Social Cohesion &amp; Open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54787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Civic tech · open data · inclusion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D · India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INDIA · PERFORMANCE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20,000 to 10: a performance funnel culminating in Korea Grand Showcase.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954530" cy="192024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" cy="192024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72593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05519"/>
                </a:solidFill>
                <a:latin typeface="Inter"/>
              </a:rPr>
              <a:t>20,000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72593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Registered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84298" y="233172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05519"/>
                </a:solidFill>
                <a:latin typeface="Inter"/>
              </a:rPr>
              <a:t>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48890" y="1554480"/>
            <a:ext cx="1954530" cy="192024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48890" y="1554480"/>
            <a:ext cx="54864" cy="192024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86050" y="1783080"/>
            <a:ext cx="172593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05519"/>
                </a:solidFill>
                <a:latin typeface="Inter"/>
              </a:rPr>
              <a:t>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6050" y="2697480"/>
            <a:ext cx="172593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Qualified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5988" y="233172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05519"/>
                </a:solidFill>
                <a:latin typeface="Inter"/>
              </a:rPr>
              <a:t>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0580" y="1554480"/>
            <a:ext cx="1954530" cy="192024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40580" y="1554480"/>
            <a:ext cx="54864" cy="192024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7740" y="1783080"/>
            <a:ext cx="172593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05519"/>
                </a:solidFill>
                <a:latin typeface="Inter"/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7740" y="2697480"/>
            <a:ext cx="172593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Finalists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7678" y="233172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05519"/>
                </a:solidFill>
                <a:latin typeface="Inter"/>
              </a:rPr>
              <a:t>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32270" y="1554480"/>
            <a:ext cx="1954530" cy="192024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32270" y="1554480"/>
            <a:ext cx="54864" cy="192024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69430" y="1783080"/>
            <a:ext cx="172593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05519"/>
                </a:solidFill>
                <a:latin typeface="Inter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9430" y="2697480"/>
            <a:ext cx="172593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Grand Showcase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49039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333333"/>
                </a:solidFill>
                <a:latin typeface="Inter"/>
              </a:rPr>
              <a:t>Top 10 from India travel to Korea Grand Showcase. The 1N2D is the 1,000 → 100 stage — build one MVP, ship live URL, pitch.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D · India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Five tracks side by side — same skeleton, different dials.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144475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Anchor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144475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144475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44475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Signature move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solidFill>
            <a:srgbClr val="F5F0EB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874520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1A1A"/>
                </a:solidFill>
                <a:latin typeface="Inter"/>
              </a:rPr>
              <a:t>Indonesia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187452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BSD City · Sinarmas + 7 unis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187452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IMPACT + 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9008" y="187452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EN + Bahasa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3488" y="1874520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Living Lab field visits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377440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1A1A"/>
                </a:solidFill>
                <a:latin typeface="Inter"/>
              </a:rPr>
              <a:t>KR-Inbound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237744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Foreign students in KR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237744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IMPACT + Small Biz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8" y="237744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EN + Korean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2377440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K-market interviews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solidFill>
            <a:srgbClr val="F5F0EB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2880360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1A1A"/>
                </a:solidFill>
                <a:latin typeface="Inter"/>
              </a:rPr>
              <a:t>KR-Outbound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288036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520+ global partners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41648" y="288036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Global Entry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79008" y="288036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EN + KR + 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3488" y="2880360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Market primer pick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3383280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1A1A"/>
                </a:solidFill>
                <a:latin typeface="Inter"/>
              </a:rPr>
              <a:t>JP + TW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55648" y="338328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Musashino + Taichung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41648" y="338328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Matching + Custom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79008" y="338328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EN + JP + TW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33488" y="3383280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Gov-private co-judging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F5F0EB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3886200"/>
            <a:ext cx="1051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1A1A"/>
                </a:solidFill>
                <a:latin typeface="Inter"/>
              </a:rPr>
              <a:t>India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55648" y="388620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Action AI · universities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1648" y="388620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IMPACT + Custom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79008" y="3886200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EN + Hindi + reg.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33488" y="3886200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Live URL Day 1 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D · Comparison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5519"/>
                </a:solidFill>
                <a:latin typeface="Inter"/>
              </a:rPr>
              <a:t>PART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7589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Inter"/>
              </a:rPr>
              <a:t>Facilitator playbook.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D8D4D7"/>
                </a:solidFill>
                <a:latin typeface="Inter"/>
              </a:rPr>
              <a:t>Before, during, and after the 36 hours. Pre-event design, Day 1 + Day 2 timelines, coach cue cards, and post-event handoff.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999999"/>
                </a:solidFill>
                <a:latin typeface="Inter"/>
              </a:rPr>
              <a:t>Part E · Playbook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999999"/>
                </a:solidFill>
                <a:latin typeface="Inter"/>
              </a:rPr>
              <a:t>(c) 2026 UD Impact Co., Ltd. (Underdogs)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PRE-EVENT · LMS / VOD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Pre-event is 2-3 weeks async. Concepts live here, not on-site.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51760" cy="29260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29260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Orient +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23317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2-3 videos (10-15 min)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Reading kit: 2-3 pieces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Exercise: problem one-pager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Deliverable: problem statement v0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651760" cy="29260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54864" cy="29260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Method +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331720"/>
            <a:ext cx="23317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3-4 videos on 5D + rubric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Reading: 1-2 track case studies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Exercise: tool walkthrough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Deliverable: tool-practice 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2651760" cy="29260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417320"/>
            <a:ext cx="54864" cy="29260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WEEK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Team + prep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331720"/>
            <a:ext cx="23317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Team-formation survey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Interview 2 target users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Bring 1 draft idea + 1 backup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Deliverable: arrival packet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E · Playbook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DAY 1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Day 1 · 09:00 → 22:00. Five blocks, each with a named artifact.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229600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3560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43560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43560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What happens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435608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Artifact 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19072"/>
            <a:ext cx="8229600" cy="621792"/>
          </a:xfrm>
          <a:prstGeom prst="rect">
            <a:avLst/>
          </a:prstGeom>
          <a:solidFill>
            <a:srgbClr val="F5F0EB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56232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09:00-10:00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1856232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Inter"/>
              </a:rPr>
              <a:t>B1 Opening + Icebreaker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856232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Team norms, intros, rubric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1856232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F05519"/>
                </a:solidFill>
                <a:latin typeface="Inter"/>
              </a:rPr>
              <a:t>Signed team charter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40864"/>
            <a:ext cx="82296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478024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10:00-12:00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2478024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Inter"/>
              </a:rPr>
              <a:t>B2 Problem deep-dive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478024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Track walk-through, interview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478024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F05519"/>
                </a:solidFill>
                <a:latin typeface="Inter"/>
              </a:rPr>
              <a:t>Problem statement v1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62656"/>
            <a:ext cx="8229600" cy="621792"/>
          </a:xfrm>
          <a:prstGeom prst="rect">
            <a:avLst/>
          </a:prstGeom>
          <a:solidFill>
            <a:srgbClr val="F5F0EB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099816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13:00-15:00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3099816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Inter"/>
              </a:rPr>
              <a:t>B3 Team + Ideation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099816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Team lock-in, idea branching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099816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F05519"/>
                </a:solidFill>
                <a:latin typeface="Inter"/>
              </a:rPr>
              <a:t>Idea v1 + riskiest assumption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84448"/>
            <a:ext cx="82296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721608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15:00-18:00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20" y="3721608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Inter"/>
              </a:rPr>
              <a:t>B4 MVP sprint #1 + 1:1 (Sess. 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721608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Build, test, coach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721608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F05519"/>
                </a:solidFill>
                <a:latin typeface="Inter"/>
              </a:rPr>
              <a:t>First prototype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06240"/>
            <a:ext cx="8229600" cy="621792"/>
          </a:xfrm>
          <a:prstGeom prst="rect">
            <a:avLst/>
          </a:prstGeom>
          <a:solidFill>
            <a:srgbClr val="F5F0EB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343400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19:00-22:00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20" y="434340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Inter"/>
              </a:rPr>
              <a:t>B5 Evening sprint + dinner + 1:1 (Sess. 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34340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Polish, rehearse, unblock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4343400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F05519"/>
                </a:solidFill>
                <a:latin typeface="Inter"/>
              </a:rPr>
              <a:t>Rough demo 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E · Playbook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DAY 2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Day 2 · 08:00 → 17:00. Polish, pitch, select, brief.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229600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3560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43560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43560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What happens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435608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Inter"/>
              </a:rPr>
              <a:t>Artifact 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19072"/>
            <a:ext cx="8229600" cy="621792"/>
          </a:xfrm>
          <a:prstGeom prst="rect">
            <a:avLst/>
          </a:prstGeom>
          <a:solidFill>
            <a:srgbClr val="F5F0EB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56232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08:00-10:00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1856232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Inter"/>
              </a:rPr>
              <a:t>B6 MVP sprint #2 + 1:1 (Sess. 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856232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Polish + demo prep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1856232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F05519"/>
                </a:solidFill>
                <a:latin typeface="Inter"/>
              </a:rPr>
              <a:t>Polished prototype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40864"/>
            <a:ext cx="82296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478024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10:00-12:00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2478024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Inter"/>
              </a:rPr>
              <a:t>B7 Dry-run + coach feedback + 1:1 (Sess. 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478024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Rehearse, refine deck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478024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F05519"/>
                </a:solidFill>
                <a:latin typeface="Inter"/>
              </a:rPr>
              <a:t>Revised pitch deck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62656"/>
            <a:ext cx="8229600" cy="621792"/>
          </a:xfrm>
          <a:prstGeom prst="rect">
            <a:avLst/>
          </a:prstGeom>
          <a:solidFill>
            <a:srgbClr val="F5F0EB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099816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13:00-15:00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3099816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Inter"/>
              </a:rPr>
              <a:t>B8 Demo Day (5-min pitch + Q&amp;A)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099816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Public judging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099816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F05519"/>
                </a:solidFill>
                <a:latin typeface="Inter"/>
              </a:rPr>
              <a:t>Scored pitch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84448"/>
            <a:ext cx="822960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721608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15:00-16:00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20" y="3721608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Inter"/>
              </a:rPr>
              <a:t>Judging + awards ceremony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721608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Rubric tally + announcement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721608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F05519"/>
                </a:solidFill>
                <a:latin typeface="Inter"/>
              </a:rPr>
              <a:t>Award list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06240"/>
            <a:ext cx="8229600" cy="621792"/>
          </a:xfrm>
          <a:prstGeom prst="rect">
            <a:avLst/>
          </a:prstGeom>
          <a:solidFill>
            <a:srgbClr val="F5F0EB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343400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16:00-17:00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20" y="4343400"/>
            <a:ext cx="3017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Inter"/>
              </a:rPr>
              <a:t>Next-steps briefing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343400"/>
            <a:ext cx="2468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33333"/>
                </a:solidFill>
                <a:latin typeface="Inter"/>
              </a:rPr>
              <a:t>Stage 2 batch onboarding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4343400"/>
            <a:ext cx="1234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F05519"/>
                </a:solidFill>
                <a:latin typeface="Inter"/>
              </a:rPr>
              <a:t>Alumni handoff packet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E · Playbook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COACHING CUE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Coach cue cards — what to ask, what to avoid, per rubric axis.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954530" cy="29260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29260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81912"/>
            <a:ext cx="168021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68021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68021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Who exactly has this problem?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What did you learn from 2 interviews?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What's the non-obvious wedge?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Avoid: "cool idea, keep going"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48890" y="1417320"/>
            <a:ext cx="1954530" cy="29260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48890" y="1417320"/>
            <a:ext cx="54864" cy="29260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31770" y="1581912"/>
            <a:ext cx="168021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BM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1770" y="1828800"/>
            <a:ext cx="168021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1770" y="2240280"/>
            <a:ext cx="168021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Who pays, how much, how often?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What's the unit economics?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Name 3 distribution channels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Avoid: "we'll figure revenue later"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0580" y="1417320"/>
            <a:ext cx="1954530" cy="29260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40580" y="1417320"/>
            <a:ext cx="54864" cy="29260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3460" y="1581912"/>
            <a:ext cx="168021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3460" y="1828800"/>
            <a:ext cx="168021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3460" y="2240280"/>
            <a:ext cx="168021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What's the 10x path?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Where does the wedge expand?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What breaks at 1,000 users?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Avoid: "total addressable market is huge"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32270" y="1417320"/>
            <a:ext cx="1954530" cy="29260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32270" y="1417320"/>
            <a:ext cx="54864" cy="29260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15150" y="1581912"/>
            <a:ext cx="168021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5150" y="1828800"/>
            <a:ext cx="168021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15150" y="2240280"/>
            <a:ext cx="168021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Which Outcome layer moves?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Who benefits beyond the buyer?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How would you measure in 12 months?</a:t>
            </a:r>
          </a:p>
          <a:p>
            <a:pPr algn="l">
              <a:lnSpc>
                <a:spcPct val="130000"/>
              </a:lnSpc>
            </a:pPr>
            <a:r>
              <a:rPr sz="900" b="1">
                <a:solidFill>
                  <a:srgbClr val="F05519"/>
                </a:solidFill>
                <a:latin typeface="Inter"/>
              </a:rPr>
              <a:t>■  </a:t>
            </a:r>
            <a:r>
              <a:rPr sz="900">
                <a:solidFill>
                  <a:srgbClr val="333333"/>
                </a:solidFill>
                <a:latin typeface="Inter"/>
              </a:rPr>
              <a:t>Avoid: "we help the world"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E · Playbook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POST-EVENT · DEMO DAY → BATCH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Post-event is where Stage-2 pipeline is won or lost.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51760" cy="29260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" cy="29260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WEEK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Close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31720"/>
            <a:ext cx="23317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1-pager per team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Scorecard published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Photo + highlights reel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Debrief: coaches + partners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2651760" cy="29260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54864" cy="29260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WEEKS 2-4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Batch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331720"/>
            <a:ext cx="23317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Top 10-20% selected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Stage 2 onboarding calls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Contract + coach assignment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First milestone scoped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417320"/>
            <a:ext cx="2651760" cy="2926080"/>
          </a:xfrm>
          <a:prstGeom prst="rect">
            <a:avLst/>
          </a:prstGeom>
          <a:solidFill>
            <a:srgbClr val="F5F0EB"/>
          </a:solidFill>
          <a:ln w="635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417320"/>
            <a:ext cx="54864" cy="292608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581912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WEEKS 4-8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1828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A1A"/>
                </a:solidFill>
                <a:latin typeface="Inter"/>
              </a:rPr>
              <a:t>Alumni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331720"/>
            <a:ext cx="23317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All teams → alumni list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Quarterly check-in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Alumni-to-alumni intros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05519"/>
                </a:solidFill>
                <a:latin typeface="Inter"/>
              </a:rPr>
              <a:t>■  </a:t>
            </a:r>
            <a:r>
              <a:rPr sz="1000">
                <a:solidFill>
                  <a:srgbClr val="333333"/>
                </a:solidFill>
                <a:latin typeface="Inter"/>
              </a:rPr>
              <a:t>Next-cohort recruiters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E · Playbook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1A1A"/>
                </a:solidFill>
                <a:latin typeface="Inter"/>
              </a:rPr>
              <a:t>Five takeaways to carry into your next hackathon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36576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8229600" cy="621792"/>
          </a:xfrm>
          <a:prstGeom prst="rect">
            <a:avLst/>
          </a:prstGeom>
          <a:solidFill>
            <a:srgbClr val="F5F0EB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" cy="621792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36192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5519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4630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Philosophy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481328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The 6 principles + 5D + Impact Value Chain are non-negotiable. Methodology picks itself after.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39112"/>
            <a:ext cx="8229600" cy="621792"/>
          </a:xfrm>
          <a:prstGeom prst="rect">
            <a:avLst/>
          </a:prstGeom>
          <a:solidFill>
            <a:srgbClr val="F5F0EB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39112"/>
            <a:ext cx="54864" cy="621792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203704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5519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1305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Funnel is the 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148840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1N2D alone is not the program. Pre-LMS (2-3 wks) + 1N2D + follow-up batch 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06624"/>
            <a:ext cx="8229600" cy="621792"/>
          </a:xfrm>
          <a:prstGeom prst="rect">
            <a:avLst/>
          </a:prstGeom>
          <a:solidFill>
            <a:srgbClr val="F5F0EB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706624"/>
            <a:ext cx="54864" cy="621792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871216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5519"/>
                </a:solidFill>
                <a:latin typeface="Inte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79806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One D per hackathon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816352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Pick a single 5D competency to install. Attempting all five in 36 hours fails.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74136"/>
            <a:ext cx="8229600" cy="621792"/>
          </a:xfrm>
          <a:prstGeom prst="rect">
            <a:avLst/>
          </a:prstGeom>
          <a:solidFill>
            <a:srgbClr val="F5F0EB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374136"/>
            <a:ext cx="54864" cy="621792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538728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5519"/>
                </a:solidFill>
                <a:latin typeface="Inte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46557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Coaching density wins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3483864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3-4 1:1s per team, each with a named purpose, drives the quality delta.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41648"/>
            <a:ext cx="8229600" cy="621792"/>
          </a:xfrm>
          <a:prstGeom prst="rect">
            <a:avLst/>
          </a:prstGeom>
          <a:solidFill>
            <a:srgbClr val="F5F0EB"/>
          </a:solidFill>
          <a:ln w="3810">
            <a:solidFill>
              <a:srgbClr val="D8D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041648"/>
            <a:ext cx="54864" cy="621792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206240"/>
            <a:ext cx="457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5519"/>
                </a:solidFill>
                <a:latin typeface="Inter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1330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Inter"/>
              </a:rPr>
              <a:t>Localize the dials, keep the skeleton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151376"/>
            <a:ext cx="48006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333333"/>
                </a:solidFill>
                <a:latin typeface="Inter"/>
              </a:rPr>
              <a:t>5 country tracks share one 8-block template. Only the content layer changes.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F05519"/>
                </a:solidFill>
                <a:latin typeface="Inter"/>
              </a:rPr>
              <a:t>Assignment: produce one country-track run-sheet using the provided template. See deliverables/assignments/.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666666"/>
                </a:solidFill>
                <a:latin typeface="Inter"/>
              </a:rPr>
              <a:t>(c) 2026 UD Impact Co., Ltd. (Underdogs)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66666"/>
                </a:solidFill>
                <a:latin typeface="Inter"/>
              </a:rPr>
              <a:t>Part F · Close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228600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5519"/>
                </a:solidFill>
                <a:latin typeface="Inter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7589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Inter"/>
              </a:rPr>
              <a:t>Go design
the next 36 hours.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1954530" cy="777240"/>
          </a:xfrm>
          <a:prstGeom prst="rect">
            <a:avLst/>
          </a:prstGeom>
          <a:solidFill>
            <a:srgbClr val="373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474720"/>
            <a:ext cx="54864" cy="77724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68021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22192"/>
            <a:ext cx="16802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Inter"/>
              </a:rPr>
              <a:t>udpb@udimpact.ai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48890" y="3474720"/>
            <a:ext cx="1954530" cy="777240"/>
          </a:xfrm>
          <a:prstGeom prst="rect">
            <a:avLst/>
          </a:prstGeom>
          <a:solidFill>
            <a:srgbClr val="373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48890" y="3474720"/>
            <a:ext cx="54864" cy="77724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31770" y="3566160"/>
            <a:ext cx="168021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WEBSITE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1770" y="3822192"/>
            <a:ext cx="16802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Inter"/>
              </a:rPr>
              <a:t>underdogs.global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0580" y="3474720"/>
            <a:ext cx="1954530" cy="777240"/>
          </a:xfrm>
          <a:prstGeom prst="rect">
            <a:avLst/>
          </a:prstGeom>
          <a:solidFill>
            <a:srgbClr val="373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40580" y="3474720"/>
            <a:ext cx="54864" cy="77724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3460" y="3566160"/>
            <a:ext cx="168021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COACH FINDER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460" y="3822192"/>
            <a:ext cx="16802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Inter"/>
              </a:rPr>
              <a:t>coach.udimpact.ai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32270" y="3474720"/>
            <a:ext cx="1954530" cy="777240"/>
          </a:xfrm>
          <a:prstGeom prst="rect">
            <a:avLst/>
          </a:prstGeom>
          <a:solidFill>
            <a:srgbClr val="373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32270" y="3474720"/>
            <a:ext cx="54864" cy="777240"/>
          </a:xfrm>
          <a:prstGeom prst="rect">
            <a:avLst/>
          </a:prstGeom>
          <a:solidFill>
            <a:srgbClr val="F0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15150" y="3566160"/>
            <a:ext cx="168021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05519"/>
                </a:solidFill>
                <a:latin typeface="Inter"/>
              </a:rPr>
              <a:t>PLANNING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5150" y="3822192"/>
            <a:ext cx="16802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Inter"/>
              </a:rPr>
              <a:t>app.udimpact.ai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709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i="0">
                <a:solidFill>
                  <a:srgbClr val="F05519"/>
                </a:solidFill>
                <a:latin typeface="Inter"/>
              </a:rPr>
              <a:t>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999999"/>
                </a:solidFill>
                <a:latin typeface="Inter"/>
              </a:rPr>
              <a:t>Part F · Close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i="0">
                <a:solidFill>
                  <a:srgbClr val="999999"/>
                </a:solidFill>
                <a:latin typeface="Inter"/>
              </a:rPr>
              <a:t>(c) 2026 UD Impact Co., Ltd. (Underdogs)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